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29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2923" autoAdjust="0"/>
  </p:normalViewPr>
  <p:slideViewPr>
    <p:cSldViewPr>
      <p:cViewPr>
        <p:scale>
          <a:sx n="51" d="100"/>
          <a:sy n="51" d="100"/>
        </p:scale>
        <p:origin x="898" y="62"/>
      </p:cViewPr>
      <p:guideLst>
        <p:guide orient="horz" pos="2144"/>
        <p:guide pos="29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72750" y="0"/>
            <a:ext cx="7715250" cy="10287000"/>
          </a:xfrm>
          <a:custGeom>
            <a:avLst/>
            <a:gdLst/>
            <a:ahLst/>
            <a:cxnLst/>
            <a:rect l="l" t="t" r="r" b="b"/>
            <a:pathLst>
              <a:path w="7715250" h="10287000">
                <a:moveTo>
                  <a:pt x="0" y="0"/>
                </a:moveTo>
                <a:lnTo>
                  <a:pt x="7715250" y="0"/>
                </a:lnTo>
                <a:lnTo>
                  <a:pt x="77152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096500" y="0"/>
            <a:ext cx="2952750" cy="10287000"/>
            <a:chOff x="0" y="0"/>
            <a:chExt cx="3937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37000" cy="13716000"/>
            </a:xfrm>
            <a:custGeom>
              <a:avLst/>
              <a:gdLst/>
              <a:ahLst/>
              <a:cxnLst/>
              <a:rect l="l" t="t" r="r" b="b"/>
              <a:pathLst>
                <a:path w="3937000" h="13716000">
                  <a:moveTo>
                    <a:pt x="0" y="0"/>
                  </a:moveTo>
                  <a:lnTo>
                    <a:pt x="3937000" y="0"/>
                  </a:lnTo>
                  <a:lnTo>
                    <a:pt x="3937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32B">
                <a:alpha val="71765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937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1390650"/>
            <a:ext cx="7429500" cy="330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3000" b="1" spc="89" dirty="0">
                <a:solidFill>
                  <a:srgbClr val="5EE1B7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NGHIÊN CỨU SO SÁNH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1500" y="2422923"/>
            <a:ext cx="10001250" cy="2064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55"/>
              </a:lnSpc>
            </a:pPr>
            <a:r>
              <a:rPr lang="en-US" sz="7800" b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ChatGPT, Gemini </a:t>
            </a:r>
            <a:r>
              <a:rPr lang="en-US" sz="78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&amp; Claude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4867275"/>
            <a:ext cx="8096250" cy="402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Lịch</a:t>
            </a:r>
            <a:r>
              <a:rPr lang="en-US" sz="25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sử</a:t>
            </a:r>
            <a:r>
              <a:rPr lang="en-US" sz="25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• </a:t>
            </a:r>
            <a:r>
              <a:rPr lang="en-US" sz="25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năng</a:t>
            </a:r>
            <a:r>
              <a:rPr lang="en-US" sz="25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lực</a:t>
            </a:r>
            <a:r>
              <a:rPr lang="en-US" sz="25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• </a:t>
            </a:r>
            <a:r>
              <a:rPr lang="en-US" sz="25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hệ</a:t>
            </a:r>
            <a:r>
              <a:rPr lang="en-US" sz="25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sinh</a:t>
            </a:r>
            <a:r>
              <a:rPr lang="en-US" sz="25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thái</a:t>
            </a:r>
            <a:r>
              <a:rPr lang="en-US" sz="25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• </a:t>
            </a:r>
            <a:r>
              <a:rPr lang="en-US" sz="25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lựa</a:t>
            </a:r>
            <a:r>
              <a:rPr lang="en-US" sz="25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chọn</a:t>
            </a:r>
            <a:r>
              <a:rPr lang="en-US" sz="25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sử</a:t>
            </a:r>
            <a:r>
              <a:rPr lang="en-US" sz="25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dụng</a:t>
            </a:r>
            <a:endParaRPr lang="en-US" sz="2500" dirty="0">
              <a:solidFill>
                <a:srgbClr val="4CC9F0"/>
              </a:solidFill>
              <a:latin typeface="Times New Roman" panose="02020603050405020304" pitchFamily="18" charset="0"/>
              <a:ea typeface="Be Vietnam" panose="00000500000000000000"/>
              <a:cs typeface="Times New Roman" panose="02020603050405020304" pitchFamily="18" charset="0"/>
              <a:sym typeface="Be Vietnam" panose="00000500000000000000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914400" y="6033770"/>
            <a:ext cx="1809750" cy="66675"/>
            <a:chOff x="0" y="0"/>
            <a:chExt cx="2413000" cy="889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13000" cy="88900"/>
            </a:xfrm>
            <a:custGeom>
              <a:avLst/>
              <a:gdLst/>
              <a:ahLst/>
              <a:cxnLst/>
              <a:rect l="l" t="t" r="r" b="b"/>
              <a:pathLst>
                <a:path w="2413000" h="88900">
                  <a:moveTo>
                    <a:pt x="0" y="0"/>
                  </a:moveTo>
                  <a:lnTo>
                    <a:pt x="2413000" y="0"/>
                  </a:lnTo>
                  <a:lnTo>
                    <a:pt x="2413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6B6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413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14400" y="7048500"/>
            <a:ext cx="2940685" cy="117411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935"/>
              </a:lnSpc>
            </a:pPr>
            <a:r>
              <a:rPr lang="en-US" sz="2500" dirty="0">
                <a:solidFill>
                  <a:srgbClr val="FFFFFF"/>
                </a:solidFill>
                <a:latin typeface="Times New Roman" panose="02020603050405020304" pitchFamily="18" charset="0"/>
                <a:ea typeface="IBM Plex Sans" panose="020B0503050203000203"/>
                <a:cs typeface="Times New Roman" panose="02020603050405020304" pitchFamily="18" charset="0"/>
                <a:sym typeface="IBM Plex Sans" panose="020B0503050203000203"/>
              </a:rPr>
              <a:t>Thành </a:t>
            </a:r>
            <a:r>
              <a:rPr lang="en-US" sz="25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 panose="020B0503050203000203"/>
                <a:cs typeface="Times New Roman" panose="02020603050405020304" pitchFamily="18" charset="0"/>
                <a:sym typeface="IBM Plex Sans" panose="020B0503050203000203"/>
              </a:rPr>
              <a:t>viên</a:t>
            </a:r>
            <a:r>
              <a:rPr lang="en-US" sz="2500" dirty="0">
                <a:solidFill>
                  <a:srgbClr val="FFFFFF"/>
                </a:solidFill>
                <a:latin typeface="Times New Roman" panose="02020603050405020304" pitchFamily="18" charset="0"/>
                <a:ea typeface="IBM Plex Sans" panose="020B0503050203000203"/>
                <a:cs typeface="Times New Roman" panose="02020603050405020304" pitchFamily="18" charset="0"/>
                <a:sym typeface="IBM Plex Sans" panose="020B0503050203000203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 panose="020B0503050203000203"/>
                <a:cs typeface="Times New Roman" panose="02020603050405020304" pitchFamily="18" charset="0"/>
                <a:sym typeface="IBM Plex Sans" panose="020B0503050203000203"/>
              </a:rPr>
              <a:t>thực</a:t>
            </a:r>
            <a:r>
              <a:rPr lang="en-US" sz="2500" dirty="0">
                <a:solidFill>
                  <a:srgbClr val="FFFFFF"/>
                </a:solidFill>
                <a:latin typeface="Times New Roman" panose="02020603050405020304" pitchFamily="18" charset="0"/>
                <a:ea typeface="IBM Plex Sans" panose="020B0503050203000203"/>
                <a:cs typeface="Times New Roman" panose="02020603050405020304" pitchFamily="18" charset="0"/>
                <a:sym typeface="IBM Plex Sans" panose="020B0503050203000203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 panose="020B0503050203000203"/>
                <a:cs typeface="Times New Roman" panose="02020603050405020304" pitchFamily="18" charset="0"/>
                <a:sym typeface="IBM Plex Sans" panose="020B0503050203000203"/>
              </a:rPr>
              <a:t>hiện</a:t>
            </a:r>
            <a:r>
              <a:rPr lang="en-US" sz="2500" dirty="0">
                <a:solidFill>
                  <a:srgbClr val="FFFFFF"/>
                </a:solidFill>
                <a:latin typeface="Times New Roman" panose="02020603050405020304" pitchFamily="18" charset="0"/>
                <a:ea typeface="IBM Plex Sans" panose="020B0503050203000203"/>
                <a:cs typeface="Times New Roman" panose="02020603050405020304" pitchFamily="18" charset="0"/>
                <a:sym typeface="IBM Plex Sans" panose="020B0503050203000203"/>
              </a:rPr>
              <a:t>:</a:t>
            </a:r>
          </a:p>
          <a:p>
            <a:pPr algn="l">
              <a:lnSpc>
                <a:spcPts val="2935"/>
              </a:lnSpc>
            </a:pPr>
            <a:r>
              <a:rPr lang="en-US" sz="2500" dirty="0" err="1">
                <a:solidFill>
                  <a:srgbClr val="FFFFFF"/>
                </a:solidFill>
                <a:latin typeface="Times New Roman" panose="02020603050405020304" pitchFamily="18" charset="0"/>
                <a:ea typeface="IBM Plex Sans" panose="020B0503050203000203"/>
                <a:cs typeface="Times New Roman" panose="02020603050405020304" pitchFamily="18" charset="0"/>
                <a:sym typeface="IBM Plex Sans" panose="020B0503050203000203"/>
              </a:rPr>
              <a:t>Mã</a:t>
            </a:r>
            <a:r>
              <a:rPr lang="en-US" sz="2500" dirty="0">
                <a:solidFill>
                  <a:srgbClr val="FFFFFF"/>
                </a:solidFill>
                <a:latin typeface="Times New Roman" panose="02020603050405020304" pitchFamily="18" charset="0"/>
                <a:ea typeface="IBM Plex Sans" panose="020B0503050203000203"/>
                <a:cs typeface="Times New Roman" panose="02020603050405020304" pitchFamily="18" charset="0"/>
                <a:sym typeface="IBM Plex Sans" panose="020B0503050203000203"/>
              </a:rPr>
              <a:t> Phúc Thành</a:t>
            </a:r>
          </a:p>
          <a:p>
            <a:pPr algn="l">
              <a:lnSpc>
                <a:spcPts val="2935"/>
              </a:lnSpc>
            </a:pPr>
            <a:r>
              <a:rPr lang="en-US" sz="2500" dirty="0">
                <a:solidFill>
                  <a:srgbClr val="FFFFFF"/>
                </a:solidFill>
                <a:latin typeface="Times New Roman" panose="02020603050405020304" pitchFamily="18" charset="0"/>
                <a:ea typeface="IBM Plex Sans" panose="020B0503050203000203"/>
                <a:cs typeface="Times New Roman" panose="02020603050405020304" pitchFamily="18" charset="0"/>
                <a:sym typeface="IBM Plex Sans" panose="020B0503050203000203"/>
              </a:rPr>
              <a:t>Lê Tuấn Kha</a:t>
            </a:r>
            <a:endParaRPr lang="en-US" sz="2500" dirty="0">
              <a:solidFill>
                <a:srgbClr val="FFFFFF"/>
              </a:solidFill>
              <a:latin typeface="Times New Roman" panose="02020603050405020304" pitchFamily="18" charset="0"/>
              <a:ea typeface="Be Vietnam" panose="00000500000000000000"/>
              <a:cs typeface="Times New Roman" panose="02020603050405020304" pitchFamily="18" charset="0"/>
              <a:sym typeface="Be Vietnam" panose="0000050000000000000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5767433" y="7048500"/>
            <a:ext cx="43916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Giảng</a:t>
            </a:r>
            <a:r>
              <a:rPr lang="en-US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Viên: Bùi Võ Quốc Bảo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59935"/>
            <a:ext cx="16459200" cy="686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45"/>
              </a:lnSpc>
            </a:pPr>
            <a:r>
              <a:rPr lang="en-US" sz="78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Chatbot </a:t>
            </a:r>
            <a:r>
              <a:rPr lang="en-US" sz="78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và</a:t>
            </a:r>
            <a:r>
              <a:rPr lang="en-US" sz="78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LLM </a:t>
            </a:r>
            <a:r>
              <a:rPr lang="en-US" sz="78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và</a:t>
            </a:r>
            <a:r>
              <a:rPr lang="en-US" sz="78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78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công</a:t>
            </a:r>
            <a:r>
              <a:rPr lang="en-US" sz="78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78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cụ</a:t>
            </a:r>
            <a:r>
              <a:rPr lang="en-US" sz="78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78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tìm</a:t>
            </a:r>
            <a:r>
              <a:rPr lang="en-US" sz="78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78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kiếm</a:t>
            </a:r>
            <a:endParaRPr lang="en-US" sz="7800" b="1" dirty="0">
              <a:solidFill>
                <a:srgbClr val="172033"/>
              </a:solidFill>
              <a:latin typeface="Times New Roman" panose="02020603050405020304" pitchFamily="18" charset="0"/>
              <a:ea typeface="Bricolage Grotesque Bold" panose="020B0605040402000204"/>
              <a:cs typeface="Times New Roman" panose="02020603050405020304" pitchFamily="18" charset="0"/>
              <a:sym typeface="Bricolage Grotesque Bold" panose="020B06050404020002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14400" y="1381125"/>
            <a:ext cx="14382750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22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Ba </a:t>
            </a:r>
            <a:r>
              <a:rPr lang="en-US" sz="22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lớp</a:t>
            </a:r>
            <a:r>
              <a:rPr lang="en-US" sz="22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thường</a:t>
            </a:r>
            <a:r>
              <a:rPr lang="en-US" sz="22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bị</a:t>
            </a:r>
            <a:r>
              <a:rPr lang="en-US" sz="22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đồng</a:t>
            </a:r>
            <a:r>
              <a:rPr lang="en-US" sz="22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nhất</a:t>
            </a:r>
            <a:r>
              <a:rPr lang="en-US" sz="22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— </a:t>
            </a:r>
            <a:r>
              <a:rPr lang="en-US" sz="22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nhưng</a:t>
            </a:r>
            <a:r>
              <a:rPr lang="en-US" sz="22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khác</a:t>
            </a:r>
            <a:r>
              <a:rPr lang="en-US" sz="22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nhau</a:t>
            </a:r>
            <a:r>
              <a:rPr lang="en-US" sz="22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về</a:t>
            </a:r>
            <a:r>
              <a:rPr lang="en-US" sz="22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vai</a:t>
            </a:r>
            <a:r>
              <a:rPr lang="en-US" sz="22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trò</a:t>
            </a:r>
            <a:r>
              <a:rPr lang="en-US" sz="22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, </a:t>
            </a:r>
            <a:r>
              <a:rPr lang="en-US" sz="22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dữ</a:t>
            </a:r>
            <a:r>
              <a:rPr lang="en-US" sz="22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liệu</a:t>
            </a:r>
            <a:r>
              <a:rPr lang="en-US" sz="22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và</a:t>
            </a:r>
            <a:r>
              <a:rPr lang="en-US" sz="22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cách</a:t>
            </a:r>
            <a:r>
              <a:rPr lang="en-US" sz="22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trả</a:t>
            </a:r>
            <a:r>
              <a:rPr lang="en-US" sz="22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lời</a:t>
            </a:r>
            <a:r>
              <a:rPr lang="en-US" sz="22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.</a:t>
            </a:r>
          </a:p>
        </p:txBody>
      </p:sp>
      <p:grpSp>
        <p:nvGrpSpPr>
          <p:cNvPr id="4" name="Group 4"/>
          <p:cNvGrpSpPr/>
          <p:nvPr>
            <p:custDataLst>
              <p:tags r:id="rId1"/>
            </p:custDataLst>
          </p:nvPr>
        </p:nvGrpSpPr>
        <p:grpSpPr>
          <a:xfrm>
            <a:off x="1143000" y="2857500"/>
            <a:ext cx="4095750" cy="2455168"/>
            <a:chOff x="0" y="0"/>
            <a:chExt cx="5461000" cy="3273557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5461000" cy="1905000"/>
              <a:chOff x="0" y="0"/>
              <a:chExt cx="5461000" cy="1905000"/>
            </a:xfrm>
          </p:grpSpPr>
          <p:sp>
            <p:nvSpPr>
              <p:cNvPr id="6" name="Freeform 6"/>
              <p:cNvSpPr/>
              <p:nvPr>
                <p:custDataLst>
                  <p:tags r:id="rId13"/>
                </p:custDataLst>
              </p:nvPr>
            </p:nvSpPr>
            <p:spPr>
              <a:xfrm>
                <a:off x="0" y="0"/>
                <a:ext cx="5461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5461000" h="1905000">
                    <a:moveTo>
                      <a:pt x="53163" y="0"/>
                    </a:moveTo>
                    <a:lnTo>
                      <a:pt x="5407837" y="0"/>
                    </a:lnTo>
                    <a:cubicBezTo>
                      <a:pt x="5421937" y="0"/>
                      <a:pt x="5435459" y="5601"/>
                      <a:pt x="5445429" y="15571"/>
                    </a:cubicBezTo>
                    <a:cubicBezTo>
                      <a:pt x="5455399" y="25541"/>
                      <a:pt x="5461000" y="39063"/>
                      <a:pt x="5461000" y="53163"/>
                    </a:cubicBezTo>
                    <a:lnTo>
                      <a:pt x="5461000" y="1851837"/>
                    </a:lnTo>
                    <a:cubicBezTo>
                      <a:pt x="5461000" y="1865937"/>
                      <a:pt x="5455399" y="1879459"/>
                      <a:pt x="5445429" y="1889429"/>
                    </a:cubicBezTo>
                    <a:cubicBezTo>
                      <a:pt x="5435459" y="1899399"/>
                      <a:pt x="5421937" y="1905000"/>
                      <a:pt x="5407837" y="1905000"/>
                    </a:cubicBezTo>
                    <a:lnTo>
                      <a:pt x="53163" y="1905000"/>
                    </a:lnTo>
                    <a:cubicBezTo>
                      <a:pt x="39063" y="1905000"/>
                      <a:pt x="25541" y="1899399"/>
                      <a:pt x="15571" y="1889429"/>
                    </a:cubicBezTo>
                    <a:cubicBezTo>
                      <a:pt x="5601" y="1879459"/>
                      <a:pt x="0" y="1865937"/>
                      <a:pt x="0" y="1851837"/>
                    </a:cubicBezTo>
                    <a:lnTo>
                      <a:pt x="0" y="53163"/>
                    </a:lnTo>
                    <a:cubicBezTo>
                      <a:pt x="0" y="39063"/>
                      <a:pt x="5601" y="25541"/>
                      <a:pt x="15571" y="15571"/>
                    </a:cubicBezTo>
                    <a:cubicBezTo>
                      <a:pt x="25541" y="5601"/>
                      <a:pt x="39063" y="0"/>
                      <a:pt x="53163" y="0"/>
                    </a:cubicBezTo>
                    <a:close/>
                  </a:path>
                </a:pathLst>
              </a:custGeom>
              <a:solidFill>
                <a:srgbClr val="FF6B6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0" y="-47625"/>
                <a:ext cx="5461000" cy="19526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500" b="1" dirty="0">
                    <a:solidFill>
                      <a:srgbClr val="FFFFFF"/>
                    </a:solidFill>
                    <a:latin typeface="Times New Roman" panose="02020603050405020304" pitchFamily="18" charset="0"/>
                    <a:ea typeface="Bricolage Grotesque Bold" panose="020B0605040402000204"/>
                    <a:cs typeface="Times New Roman" panose="02020603050405020304" pitchFamily="18" charset="0"/>
                    <a:sym typeface="Bricolage Grotesque Bold" panose="020B0605040402000204"/>
                  </a:rPr>
                  <a:t>CHATBOT AI</a:t>
                </a:r>
              </a:p>
            </p:txBody>
          </p:sp>
        </p:grpSp>
        <p:sp>
          <p:nvSpPr>
            <p:cNvPr id="8" name="TextBox 8"/>
            <p:cNvSpPr txBox="1"/>
            <p:nvPr>
              <p:custDataLst>
                <p:tags r:id="rId12"/>
              </p:custDataLst>
            </p:nvPr>
          </p:nvSpPr>
          <p:spPr>
            <a:xfrm>
              <a:off x="254000" y="2384425"/>
              <a:ext cx="4953000" cy="889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30"/>
                </a:lnSpc>
              </a:pP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Giao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diện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hội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thoại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áp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dụng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AI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để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hiểu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yêu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cầu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và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tạo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phản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hồi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.</a:t>
              </a:r>
            </a:p>
          </p:txBody>
        </p:sp>
      </p:grpSp>
      <p:sp>
        <p:nvSpPr>
          <p:cNvPr id="9" name="AutoShape 9"/>
          <p:cNvSpPr/>
          <p:nvPr>
            <p:custDataLst>
              <p:tags r:id="rId2"/>
            </p:custDataLst>
          </p:nvPr>
        </p:nvSpPr>
        <p:spPr>
          <a:xfrm>
            <a:off x="5429250" y="3571875"/>
            <a:ext cx="952500" cy="0"/>
          </a:xfrm>
          <a:prstGeom prst="line">
            <a:avLst/>
          </a:prstGeom>
          <a:ln w="47625" cap="rnd">
            <a:solidFill>
              <a:srgbClr val="C9C5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>
            <p:custDataLst>
              <p:tags r:id="rId3"/>
            </p:custDataLst>
          </p:nvPr>
        </p:nvGrpSpPr>
        <p:grpSpPr>
          <a:xfrm>
            <a:off x="6572250" y="2857500"/>
            <a:ext cx="4095750" cy="2455166"/>
            <a:chOff x="0" y="0"/>
            <a:chExt cx="5461000" cy="3273556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5461000" cy="1905000"/>
              <a:chOff x="0" y="0"/>
              <a:chExt cx="5461000" cy="1905000"/>
            </a:xfrm>
          </p:grpSpPr>
          <p:sp>
            <p:nvSpPr>
              <p:cNvPr id="12" name="Freeform 12"/>
              <p:cNvSpPr/>
              <p:nvPr>
                <p:custDataLst>
                  <p:tags r:id="rId10"/>
                </p:custDataLst>
              </p:nvPr>
            </p:nvSpPr>
            <p:spPr>
              <a:xfrm>
                <a:off x="0" y="0"/>
                <a:ext cx="5461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5461000" h="1905000">
                    <a:moveTo>
                      <a:pt x="53163" y="0"/>
                    </a:moveTo>
                    <a:lnTo>
                      <a:pt x="5407837" y="0"/>
                    </a:lnTo>
                    <a:cubicBezTo>
                      <a:pt x="5421937" y="0"/>
                      <a:pt x="5435459" y="5601"/>
                      <a:pt x="5445429" y="15571"/>
                    </a:cubicBezTo>
                    <a:cubicBezTo>
                      <a:pt x="5455399" y="25541"/>
                      <a:pt x="5461000" y="39063"/>
                      <a:pt x="5461000" y="53163"/>
                    </a:cubicBezTo>
                    <a:lnTo>
                      <a:pt x="5461000" y="1851837"/>
                    </a:lnTo>
                    <a:cubicBezTo>
                      <a:pt x="5461000" y="1865937"/>
                      <a:pt x="5455399" y="1879459"/>
                      <a:pt x="5445429" y="1889429"/>
                    </a:cubicBezTo>
                    <a:cubicBezTo>
                      <a:pt x="5435459" y="1899399"/>
                      <a:pt x="5421937" y="1905000"/>
                      <a:pt x="5407837" y="1905000"/>
                    </a:cubicBezTo>
                    <a:lnTo>
                      <a:pt x="53163" y="1905000"/>
                    </a:lnTo>
                    <a:cubicBezTo>
                      <a:pt x="39063" y="1905000"/>
                      <a:pt x="25541" y="1899399"/>
                      <a:pt x="15571" y="1889429"/>
                    </a:cubicBezTo>
                    <a:cubicBezTo>
                      <a:pt x="5601" y="1879459"/>
                      <a:pt x="0" y="1865937"/>
                      <a:pt x="0" y="1851837"/>
                    </a:cubicBezTo>
                    <a:lnTo>
                      <a:pt x="0" y="53163"/>
                    </a:lnTo>
                    <a:cubicBezTo>
                      <a:pt x="0" y="39063"/>
                      <a:pt x="5601" y="25541"/>
                      <a:pt x="15571" y="15571"/>
                    </a:cubicBezTo>
                    <a:cubicBezTo>
                      <a:pt x="25541" y="5601"/>
                      <a:pt x="39063" y="0"/>
                      <a:pt x="53163" y="0"/>
                    </a:cubicBezTo>
                    <a:close/>
                  </a:path>
                </a:pathLst>
              </a:custGeom>
              <a:solidFill>
                <a:srgbClr val="4CC9F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0" y="-47625"/>
                <a:ext cx="5461000" cy="19526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500" b="1" dirty="0">
                    <a:solidFill>
                      <a:srgbClr val="0B132B"/>
                    </a:solidFill>
                    <a:latin typeface="Times New Roman" panose="02020603050405020304" pitchFamily="18" charset="0"/>
                    <a:ea typeface="Bricolage Grotesque Bold" panose="020B0605040402000204"/>
                    <a:cs typeface="Times New Roman" panose="02020603050405020304" pitchFamily="18" charset="0"/>
                    <a:sym typeface="Bricolage Grotesque Bold" panose="020B0605040402000204"/>
                  </a:rPr>
                  <a:t>LLM</a:t>
                </a:r>
              </a:p>
            </p:txBody>
          </p:sp>
        </p:grpSp>
        <p:sp>
          <p:nvSpPr>
            <p:cNvPr id="14" name="TextBox 14"/>
            <p:cNvSpPr txBox="1"/>
            <p:nvPr>
              <p:custDataLst>
                <p:tags r:id="rId9"/>
              </p:custDataLst>
            </p:nvPr>
          </p:nvSpPr>
          <p:spPr>
            <a:xfrm>
              <a:off x="254000" y="2384424"/>
              <a:ext cx="4953000" cy="889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30"/>
                </a:lnSpc>
              </a:pP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Mô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hình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học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từ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kho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văn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bản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lớn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để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dự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đoán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và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sinh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ngôn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ngữ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.</a:t>
              </a:r>
            </a:p>
          </p:txBody>
        </p:sp>
      </p:grpSp>
      <p:sp>
        <p:nvSpPr>
          <p:cNvPr id="15" name="AutoShape 15"/>
          <p:cNvSpPr/>
          <p:nvPr>
            <p:custDataLst>
              <p:tags r:id="rId4"/>
            </p:custDataLst>
          </p:nvPr>
        </p:nvSpPr>
        <p:spPr>
          <a:xfrm>
            <a:off x="10858500" y="3571875"/>
            <a:ext cx="952500" cy="0"/>
          </a:xfrm>
          <a:prstGeom prst="line">
            <a:avLst/>
          </a:prstGeom>
          <a:ln w="47625" cap="rnd">
            <a:solidFill>
              <a:srgbClr val="C9C5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>
            <p:custDataLst>
              <p:tags r:id="rId5"/>
            </p:custDataLst>
          </p:nvPr>
        </p:nvGrpSpPr>
        <p:grpSpPr>
          <a:xfrm>
            <a:off x="12001500" y="2857500"/>
            <a:ext cx="4095750" cy="2455168"/>
            <a:chOff x="0" y="0"/>
            <a:chExt cx="5461000" cy="3273557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5461000" cy="1905000"/>
              <a:chOff x="0" y="0"/>
              <a:chExt cx="5461000" cy="1905000"/>
            </a:xfrm>
          </p:grpSpPr>
          <p:sp>
            <p:nvSpPr>
              <p:cNvPr id="18" name="Freeform 18"/>
              <p:cNvSpPr/>
              <p:nvPr>
                <p:custDataLst>
                  <p:tags r:id="rId7"/>
                </p:custDataLst>
              </p:nvPr>
            </p:nvSpPr>
            <p:spPr>
              <a:xfrm>
                <a:off x="0" y="0"/>
                <a:ext cx="5461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5461000" h="1905000">
                    <a:moveTo>
                      <a:pt x="53163" y="0"/>
                    </a:moveTo>
                    <a:lnTo>
                      <a:pt x="5407837" y="0"/>
                    </a:lnTo>
                    <a:cubicBezTo>
                      <a:pt x="5421937" y="0"/>
                      <a:pt x="5435459" y="5601"/>
                      <a:pt x="5445429" y="15571"/>
                    </a:cubicBezTo>
                    <a:cubicBezTo>
                      <a:pt x="5455399" y="25541"/>
                      <a:pt x="5461000" y="39063"/>
                      <a:pt x="5461000" y="53163"/>
                    </a:cubicBezTo>
                    <a:lnTo>
                      <a:pt x="5461000" y="1851837"/>
                    </a:lnTo>
                    <a:cubicBezTo>
                      <a:pt x="5461000" y="1865937"/>
                      <a:pt x="5455399" y="1879459"/>
                      <a:pt x="5445429" y="1889429"/>
                    </a:cubicBezTo>
                    <a:cubicBezTo>
                      <a:pt x="5435459" y="1899399"/>
                      <a:pt x="5421937" y="1905000"/>
                      <a:pt x="5407837" y="1905000"/>
                    </a:cubicBezTo>
                    <a:lnTo>
                      <a:pt x="53163" y="1905000"/>
                    </a:lnTo>
                    <a:cubicBezTo>
                      <a:pt x="39063" y="1905000"/>
                      <a:pt x="25541" y="1899399"/>
                      <a:pt x="15571" y="1889429"/>
                    </a:cubicBezTo>
                    <a:cubicBezTo>
                      <a:pt x="5601" y="1879459"/>
                      <a:pt x="0" y="1865937"/>
                      <a:pt x="0" y="1851837"/>
                    </a:cubicBezTo>
                    <a:lnTo>
                      <a:pt x="0" y="53163"/>
                    </a:lnTo>
                    <a:cubicBezTo>
                      <a:pt x="0" y="39063"/>
                      <a:pt x="5601" y="25541"/>
                      <a:pt x="15571" y="15571"/>
                    </a:cubicBezTo>
                    <a:cubicBezTo>
                      <a:pt x="25541" y="5601"/>
                      <a:pt x="39063" y="0"/>
                      <a:pt x="53163" y="0"/>
                    </a:cubicBezTo>
                    <a:close/>
                  </a:path>
                </a:pathLst>
              </a:custGeom>
              <a:solidFill>
                <a:srgbClr val="5EE1B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0" y="-47625"/>
                <a:ext cx="5461000" cy="19526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500" b="1" dirty="0">
                    <a:solidFill>
                      <a:srgbClr val="0B132B"/>
                    </a:solidFill>
                    <a:latin typeface="Times New Roman" panose="02020603050405020304" pitchFamily="18" charset="0"/>
                    <a:ea typeface="Bricolage Grotesque Bold" panose="020B0605040402000204"/>
                    <a:cs typeface="Times New Roman" panose="02020603050405020304" pitchFamily="18" charset="0"/>
                    <a:sym typeface="Bricolage Grotesque Bold" panose="020B0605040402000204"/>
                  </a:rPr>
                  <a:t>TÌM KIẾM</a:t>
                </a:r>
              </a:p>
            </p:txBody>
          </p:sp>
        </p:grpSp>
        <p:sp>
          <p:nvSpPr>
            <p:cNvPr id="20" name="TextBox 20"/>
            <p:cNvSpPr txBox="1"/>
            <p:nvPr>
              <p:custDataLst>
                <p:tags r:id="rId6"/>
              </p:custDataLst>
            </p:nvPr>
          </p:nvSpPr>
          <p:spPr>
            <a:xfrm>
              <a:off x="254000" y="2384425"/>
              <a:ext cx="4953000" cy="889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30"/>
                </a:lnSpc>
              </a:pP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Hệ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thống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truy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xuất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,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xếp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hạng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và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dẫn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tới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tài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liệu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trên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web/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chỉ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mục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33500" y="7105650"/>
            <a:ext cx="15621000" cy="1428750"/>
            <a:chOff x="0" y="0"/>
            <a:chExt cx="20828000" cy="1905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828000" cy="1905000"/>
            </a:xfrm>
            <a:custGeom>
              <a:avLst/>
              <a:gdLst/>
              <a:ahLst/>
              <a:cxnLst/>
              <a:rect l="l" t="t" r="r" b="b"/>
              <a:pathLst>
                <a:path w="20828000" h="1905000">
                  <a:moveTo>
                    <a:pt x="0" y="0"/>
                  </a:moveTo>
                  <a:lnTo>
                    <a:pt x="20828000" y="0"/>
                  </a:lnTo>
                  <a:lnTo>
                    <a:pt x="20828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E5DFD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0828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714500" y="7400925"/>
            <a:ext cx="1485900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LLM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có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thể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là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“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động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cơ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”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của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chatbot;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tìm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kiếm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có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thể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là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nguồn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dữ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liệu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bổ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sung. AI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tổng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quát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(AGI)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là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khái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niệm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rộng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hơn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và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chưa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đồng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nghĩa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với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các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công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cụ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hiện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tại</a:t>
            </a:r>
            <a:r>
              <a: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381250" y="9029700"/>
            <a:ext cx="13525500" cy="251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5"/>
              </a:lnSpc>
            </a:pPr>
            <a:r>
              <a:rPr lang="en-US" sz="165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Nguồn</a:t>
            </a:r>
            <a:r>
              <a:rPr lang="en-US" sz="165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65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phổ</a:t>
            </a:r>
            <a:r>
              <a:rPr lang="en-US" sz="165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65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thông</a:t>
            </a:r>
            <a:r>
              <a:rPr lang="en-US" sz="165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: </a:t>
            </a:r>
            <a:r>
              <a:rPr lang="en-US" sz="165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Thế</a:t>
            </a:r>
            <a:r>
              <a:rPr lang="en-US" sz="165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65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Giới</a:t>
            </a:r>
            <a:r>
              <a:rPr lang="en-US" sz="165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Di </a:t>
            </a:r>
            <a:r>
              <a:rPr lang="en-US" sz="165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Động</a:t>
            </a:r>
            <a:r>
              <a:rPr lang="en-US" sz="165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(</a:t>
            </a:r>
            <a:r>
              <a:rPr lang="en-US" sz="165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khái</a:t>
            </a:r>
            <a:r>
              <a:rPr lang="en-US" sz="165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65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niệm</a:t>
            </a:r>
            <a:r>
              <a:rPr lang="en-US" sz="165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chatbot); </a:t>
            </a:r>
            <a:r>
              <a:rPr lang="en-US" sz="165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đối</a:t>
            </a:r>
            <a:r>
              <a:rPr lang="en-US" sz="165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65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chiếu</a:t>
            </a:r>
            <a:r>
              <a:rPr lang="en-US" sz="165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65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với</a:t>
            </a:r>
            <a:r>
              <a:rPr lang="en-US" sz="165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65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tài</a:t>
            </a:r>
            <a:r>
              <a:rPr lang="en-US" sz="165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65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liệu</a:t>
            </a:r>
            <a:r>
              <a:rPr lang="en-US" sz="165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65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kỹ</a:t>
            </a:r>
            <a:r>
              <a:rPr lang="en-US" sz="165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65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thuật</a:t>
            </a:r>
            <a:r>
              <a:rPr lang="en-US" sz="165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65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của</a:t>
            </a:r>
            <a:r>
              <a:rPr lang="en-US" sz="165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65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nhà</a:t>
            </a:r>
            <a:r>
              <a:rPr lang="en-US" sz="165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65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cung</a:t>
            </a:r>
            <a:r>
              <a:rPr lang="en-US" sz="165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65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cấp</a:t>
            </a:r>
            <a:r>
              <a:rPr lang="en-US" sz="165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85800"/>
            <a:ext cx="16459200" cy="632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45"/>
              </a:lnSpc>
            </a:pPr>
            <a:r>
              <a:rPr lang="en-US" sz="60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ChatGPT: </a:t>
            </a:r>
            <a:r>
              <a:rPr lang="en-US" sz="60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từ</a:t>
            </a:r>
            <a:r>
              <a:rPr lang="en-US" sz="60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60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nghiên</a:t>
            </a:r>
            <a:r>
              <a:rPr lang="en-US" sz="60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60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cứu</a:t>
            </a:r>
            <a:r>
              <a:rPr lang="en-US" sz="60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60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đến</a:t>
            </a:r>
            <a:r>
              <a:rPr lang="en-US" sz="60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60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nền</a:t>
            </a:r>
            <a:r>
              <a:rPr lang="en-US" sz="60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60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tảng</a:t>
            </a:r>
            <a:r>
              <a:rPr lang="en-US" sz="60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60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đại</a:t>
            </a:r>
            <a:r>
              <a:rPr lang="en-US" sz="60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60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chúng</a:t>
            </a:r>
            <a:endParaRPr lang="en-US" sz="6000" b="1" dirty="0">
              <a:solidFill>
                <a:srgbClr val="172033"/>
              </a:solidFill>
              <a:latin typeface="Times New Roman" panose="02020603050405020304" pitchFamily="18" charset="0"/>
              <a:ea typeface="Bricolage Grotesque Bold" panose="020B0605040402000204"/>
              <a:cs typeface="Times New Roman" panose="02020603050405020304" pitchFamily="18" charset="0"/>
              <a:sym typeface="Bricolage Grotesque Bold" panose="020B06050404020002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14400" y="1381125"/>
            <a:ext cx="14382750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Mốc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chính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2016-2025: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Ưu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tiên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nguồn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OpenAI;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số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liệu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người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dùng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cần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đối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chiếu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độc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lập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.</a:t>
            </a:r>
          </a:p>
        </p:txBody>
      </p:sp>
      <p:sp>
        <p:nvSpPr>
          <p:cNvPr id="4" name="AutoShape 4"/>
          <p:cNvSpPr/>
          <p:nvPr/>
        </p:nvSpPr>
        <p:spPr>
          <a:xfrm>
            <a:off x="1238250" y="4905375"/>
            <a:ext cx="15811500" cy="0"/>
          </a:xfrm>
          <a:prstGeom prst="line">
            <a:avLst/>
          </a:prstGeom>
          <a:ln w="76200" cap="rnd">
            <a:solidFill>
              <a:srgbClr val="1720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00125" y="4667250"/>
            <a:ext cx="476250" cy="476250"/>
            <a:chOff x="0" y="0"/>
            <a:chExt cx="635000" cy="635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492850" y="0"/>
                    <a:pt x="635000" y="142150"/>
                    <a:pt x="635000" y="317500"/>
                  </a:cubicBezTo>
                  <a:cubicBezTo>
                    <a:pt x="635000" y="492850"/>
                    <a:pt x="492850" y="635000"/>
                    <a:pt x="317500" y="635000"/>
                  </a:cubicBezTo>
                  <a:cubicBezTo>
                    <a:pt x="142150" y="635000"/>
                    <a:pt x="0" y="492850"/>
                    <a:pt x="0" y="317500"/>
                  </a:cubicBez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4CC9F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000500" y="4667250"/>
            <a:ext cx="476250" cy="476250"/>
            <a:chOff x="0" y="0"/>
            <a:chExt cx="635000" cy="635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492850" y="0"/>
                    <a:pt x="635000" y="142150"/>
                    <a:pt x="635000" y="317500"/>
                  </a:cubicBezTo>
                  <a:cubicBezTo>
                    <a:pt x="635000" y="492850"/>
                    <a:pt x="492850" y="635000"/>
                    <a:pt x="317500" y="635000"/>
                  </a:cubicBezTo>
                  <a:cubicBezTo>
                    <a:pt x="142150" y="635000"/>
                    <a:pt x="0" y="492850"/>
                    <a:pt x="0" y="317500"/>
                  </a:cubicBez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4CC9F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000875" y="4667250"/>
            <a:ext cx="476250" cy="476250"/>
            <a:chOff x="0" y="0"/>
            <a:chExt cx="635000" cy="635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492850" y="0"/>
                    <a:pt x="635000" y="142150"/>
                    <a:pt x="635000" y="317500"/>
                  </a:cubicBezTo>
                  <a:cubicBezTo>
                    <a:pt x="635000" y="492850"/>
                    <a:pt x="492850" y="635000"/>
                    <a:pt x="317500" y="635000"/>
                  </a:cubicBezTo>
                  <a:cubicBezTo>
                    <a:pt x="142150" y="635000"/>
                    <a:pt x="0" y="492850"/>
                    <a:pt x="0" y="317500"/>
                  </a:cubicBez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4CC9F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01250" y="4667250"/>
            <a:ext cx="476250" cy="476250"/>
            <a:chOff x="0" y="0"/>
            <a:chExt cx="635000" cy="635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492850" y="0"/>
                    <a:pt x="635000" y="142150"/>
                    <a:pt x="635000" y="317500"/>
                  </a:cubicBezTo>
                  <a:cubicBezTo>
                    <a:pt x="635000" y="492850"/>
                    <a:pt x="492850" y="635000"/>
                    <a:pt x="317500" y="635000"/>
                  </a:cubicBezTo>
                  <a:cubicBezTo>
                    <a:pt x="142150" y="635000"/>
                    <a:pt x="0" y="492850"/>
                    <a:pt x="0" y="317500"/>
                  </a:cubicBez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4CC9F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001625" y="4667250"/>
            <a:ext cx="476250" cy="476250"/>
            <a:chOff x="0" y="0"/>
            <a:chExt cx="635000" cy="635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492850" y="0"/>
                    <a:pt x="635000" y="142150"/>
                    <a:pt x="635000" y="317500"/>
                  </a:cubicBezTo>
                  <a:cubicBezTo>
                    <a:pt x="635000" y="492850"/>
                    <a:pt x="492850" y="635000"/>
                    <a:pt x="317500" y="635000"/>
                  </a:cubicBezTo>
                  <a:cubicBezTo>
                    <a:pt x="142150" y="635000"/>
                    <a:pt x="0" y="492850"/>
                    <a:pt x="0" y="317500"/>
                  </a:cubicBez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4CC9F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002000" y="4667250"/>
            <a:ext cx="476250" cy="476250"/>
            <a:chOff x="0" y="0"/>
            <a:chExt cx="635000" cy="635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cubicBezTo>
                    <a:pt x="492850" y="0"/>
                    <a:pt x="635000" y="142150"/>
                    <a:pt x="635000" y="317500"/>
                  </a:cubicBezTo>
                  <a:cubicBezTo>
                    <a:pt x="635000" y="492850"/>
                    <a:pt x="492850" y="635000"/>
                    <a:pt x="317500" y="635000"/>
                  </a:cubicBezTo>
                  <a:cubicBezTo>
                    <a:pt x="142150" y="635000"/>
                    <a:pt x="0" y="492850"/>
                    <a:pt x="0" y="317500"/>
                  </a:cubicBez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solidFill>
              <a:srgbClr val="FF6B6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5750" y="3212306"/>
            <a:ext cx="1905000" cy="997645"/>
            <a:chOff x="0" y="28575"/>
            <a:chExt cx="2540000" cy="1330192"/>
          </a:xfrm>
        </p:grpSpPr>
        <p:sp>
          <p:nvSpPr>
            <p:cNvPr id="18" name="TextBox 18"/>
            <p:cNvSpPr txBox="1"/>
            <p:nvPr/>
          </p:nvSpPr>
          <p:spPr>
            <a:xfrm>
              <a:off x="444500" y="28575"/>
              <a:ext cx="1651000" cy="4445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550" b="1" dirty="0">
                  <a:solidFill>
                    <a:srgbClr val="172033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2016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606425"/>
              <a:ext cx="2540000" cy="75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25"/>
                </a:lnSpc>
              </a:pP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khởi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đầu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hướng</a:t>
              </a:r>
              <a:endPara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endParaRPr>
            </a:p>
            <a:p>
              <a:pPr algn="ctr">
                <a:lnSpc>
                  <a:spcPts val="2225"/>
                </a:lnSpc>
              </a:pP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nghiên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cứu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GPT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286125" y="5450681"/>
            <a:ext cx="1905000" cy="763142"/>
            <a:chOff x="0" y="28575"/>
            <a:chExt cx="2540000" cy="1017522"/>
          </a:xfrm>
        </p:grpSpPr>
        <p:sp>
          <p:nvSpPr>
            <p:cNvPr id="21" name="TextBox 21"/>
            <p:cNvSpPr txBox="1"/>
            <p:nvPr/>
          </p:nvSpPr>
          <p:spPr>
            <a:xfrm>
              <a:off x="444500" y="28575"/>
              <a:ext cx="1651000" cy="4445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550" b="1" dirty="0">
                  <a:solidFill>
                    <a:srgbClr val="172033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2019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669925"/>
              <a:ext cx="2540000" cy="376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25"/>
                </a:lnSpc>
              </a:pP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GPT - 2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86500" y="3212306"/>
            <a:ext cx="1905000" cy="997646"/>
            <a:chOff x="0" y="28575"/>
            <a:chExt cx="2540000" cy="1330192"/>
          </a:xfrm>
        </p:grpSpPr>
        <p:sp>
          <p:nvSpPr>
            <p:cNvPr id="24" name="TextBox 24"/>
            <p:cNvSpPr txBox="1"/>
            <p:nvPr/>
          </p:nvSpPr>
          <p:spPr>
            <a:xfrm>
              <a:off x="444500" y="28575"/>
              <a:ext cx="1651000" cy="4445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550" b="1" dirty="0">
                  <a:solidFill>
                    <a:srgbClr val="172033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2022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606425"/>
              <a:ext cx="2540000" cy="75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25"/>
                </a:lnSpc>
              </a:pPr>
              <a:r>
                <a:rPr lang="en-US" sz="220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ChatGPT /</a:t>
              </a:r>
            </a:p>
            <a:p>
              <a:pPr algn="ctr">
                <a:lnSpc>
                  <a:spcPts val="2225"/>
                </a:lnSpc>
              </a:pPr>
              <a:r>
                <a:rPr lang="en-US" sz="220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GPT - 3.5</a:t>
              </a:r>
              <a:endPara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286875" y="5450681"/>
            <a:ext cx="1905000" cy="1045270"/>
            <a:chOff x="0" y="28575"/>
            <a:chExt cx="2540000" cy="1393692"/>
          </a:xfrm>
        </p:grpSpPr>
        <p:sp>
          <p:nvSpPr>
            <p:cNvPr id="27" name="TextBox 27"/>
            <p:cNvSpPr txBox="1"/>
            <p:nvPr/>
          </p:nvSpPr>
          <p:spPr>
            <a:xfrm>
              <a:off x="444500" y="28575"/>
              <a:ext cx="1651000" cy="4445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550" b="1" dirty="0">
                  <a:solidFill>
                    <a:srgbClr val="172033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2023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669925"/>
              <a:ext cx="2540000" cy="75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25"/>
                </a:lnSpc>
              </a:pP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GPT- 4  API</a:t>
              </a:r>
            </a:p>
            <a:p>
              <a:pPr algn="ctr">
                <a:lnSpc>
                  <a:spcPts val="2225"/>
                </a:lnSpc>
              </a:pP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iOS 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duyệt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web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287250" y="3212306"/>
            <a:ext cx="1905000" cy="997645"/>
            <a:chOff x="0" y="28575"/>
            <a:chExt cx="2540000" cy="1330192"/>
          </a:xfrm>
        </p:grpSpPr>
        <p:sp>
          <p:nvSpPr>
            <p:cNvPr id="30" name="TextBox 30"/>
            <p:cNvSpPr txBox="1"/>
            <p:nvPr/>
          </p:nvSpPr>
          <p:spPr>
            <a:xfrm>
              <a:off x="444500" y="28575"/>
              <a:ext cx="1651000" cy="4445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550" b="1" dirty="0">
                  <a:solidFill>
                    <a:srgbClr val="172033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2024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606425"/>
              <a:ext cx="2540000" cy="75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25"/>
                </a:lnSpc>
              </a:pP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GPT - 4o</a:t>
              </a:r>
            </a:p>
            <a:p>
              <a:pPr algn="ctr">
                <a:lnSpc>
                  <a:spcPts val="2225"/>
                </a:lnSpc>
              </a:pP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GPT Store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197137" y="5450681"/>
            <a:ext cx="2085975" cy="1045270"/>
            <a:chOff x="-120650" y="28575"/>
            <a:chExt cx="2781300" cy="1393692"/>
          </a:xfrm>
        </p:grpSpPr>
        <p:sp>
          <p:nvSpPr>
            <p:cNvPr id="33" name="TextBox 33"/>
            <p:cNvSpPr txBox="1"/>
            <p:nvPr/>
          </p:nvSpPr>
          <p:spPr>
            <a:xfrm>
              <a:off x="444500" y="28575"/>
              <a:ext cx="1651000" cy="4445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550" b="1" dirty="0">
                  <a:solidFill>
                    <a:srgbClr val="172033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2025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-120650" y="669925"/>
              <a:ext cx="2781300" cy="7523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225"/>
                </a:lnSpc>
              </a:pP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Khoảng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700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triệu</a:t>
              </a:r>
              <a:endPara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endParaRPr>
            </a:p>
            <a:p>
              <a:pPr algn="ctr">
                <a:lnSpc>
                  <a:spcPts val="2225"/>
                </a:lnSpc>
              </a:pP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người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dùng</a:t>
              </a:r>
              <a:r>
                <a:rPr lang="en-US" sz="22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/</a:t>
              </a:r>
              <a:r>
                <a:rPr lang="en-US" sz="22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tuần</a:t>
              </a:r>
              <a:endParaRPr lang="en-US" sz="22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endParaR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333500" y="8791575"/>
            <a:ext cx="15621000" cy="263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Con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số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2025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trong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đề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cương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là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tuyên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bố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cần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kiểm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chứng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theo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thời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điểm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công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bố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.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Nguồn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chính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thức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: OpenAI;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nguồn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kiểm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chứng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: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báo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chí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công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nghệ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độc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lập</a:t>
            </a:r>
            <a:r>
              <a:rPr lang="en-US" sz="172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66750"/>
            <a:ext cx="15754350" cy="497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Gemini: </a:t>
            </a:r>
            <a:r>
              <a:rPr lang="en-US" sz="44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chuyển</a:t>
            </a: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dịch</a:t>
            </a: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từ</a:t>
            </a: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Bard sang </a:t>
            </a:r>
            <a:r>
              <a:rPr lang="en-US" sz="44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hệ</a:t>
            </a: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mô</a:t>
            </a: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hình</a:t>
            </a: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đa</a:t>
            </a: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phương</a:t>
            </a: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thức</a:t>
            </a:r>
            <a:endParaRPr lang="en-US" sz="4400" b="1" dirty="0">
              <a:solidFill>
                <a:srgbClr val="FFFFFF"/>
              </a:solidFill>
              <a:latin typeface="Times New Roman" panose="02020603050405020304" pitchFamily="18" charset="0"/>
              <a:ea typeface="Bricolage Grotesque Bold" panose="020B0605040402000204"/>
              <a:cs typeface="Times New Roman" panose="02020603050405020304" pitchFamily="18" charset="0"/>
              <a:sym typeface="Bricolage Grotesque Bold" panose="020B06050404020002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14400" y="1381125"/>
            <a:ext cx="14382750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22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Các </a:t>
            </a:r>
            <a:r>
              <a:rPr lang="en-US" sz="22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phiên</a:t>
            </a:r>
            <a:r>
              <a:rPr lang="en-US" sz="22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bản</a:t>
            </a:r>
            <a:r>
              <a:rPr lang="en-US" sz="22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thay</a:t>
            </a:r>
            <a:r>
              <a:rPr lang="en-US" sz="22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đổi</a:t>
            </a:r>
            <a:r>
              <a:rPr lang="en-US" sz="22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nhanh</a:t>
            </a:r>
            <a:r>
              <a:rPr lang="en-US" sz="22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; </a:t>
            </a:r>
            <a:r>
              <a:rPr lang="en-US" sz="22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chỉ</a:t>
            </a:r>
            <a:r>
              <a:rPr lang="en-US" sz="22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ghi</a:t>
            </a:r>
            <a:r>
              <a:rPr lang="en-US" sz="22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nhận</a:t>
            </a:r>
            <a:r>
              <a:rPr lang="en-US" sz="22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mốc</a:t>
            </a:r>
            <a:r>
              <a:rPr lang="en-US" sz="22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có</a:t>
            </a:r>
            <a:r>
              <a:rPr lang="en-US" sz="22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thông</a:t>
            </a:r>
            <a:r>
              <a:rPr lang="en-US" sz="22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báo</a:t>
            </a:r>
            <a:r>
              <a:rPr lang="en-US" sz="22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chính</a:t>
            </a:r>
            <a:r>
              <a:rPr lang="en-US" sz="22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2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thức</a:t>
            </a:r>
            <a:r>
              <a:rPr lang="en-US" sz="22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.</a:t>
            </a:r>
          </a:p>
        </p:txBody>
      </p:sp>
      <p:sp>
        <p:nvSpPr>
          <p:cNvPr id="4" name="AutoShape 4"/>
          <p:cNvSpPr/>
          <p:nvPr/>
        </p:nvSpPr>
        <p:spPr>
          <a:xfrm>
            <a:off x="1619250" y="5143500"/>
            <a:ext cx="15049500" cy="0"/>
          </a:xfrm>
          <a:prstGeom prst="line">
            <a:avLst/>
          </a:prstGeom>
          <a:ln w="66675" cap="rnd">
            <a:solidFill>
              <a:srgbClr val="4CC9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143000" y="4857750"/>
            <a:ext cx="571500" cy="571500"/>
            <a:chOff x="0" y="0"/>
            <a:chExt cx="762000" cy="762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591420" y="0"/>
                    <a:pt x="762000" y="170580"/>
                    <a:pt x="762000" y="381000"/>
                  </a:cubicBezTo>
                  <a:cubicBezTo>
                    <a:pt x="762000" y="591420"/>
                    <a:pt x="591420" y="762000"/>
                    <a:pt x="381000" y="762000"/>
                  </a:cubicBezTo>
                  <a:cubicBezTo>
                    <a:pt x="170580" y="762000"/>
                    <a:pt x="0" y="591420"/>
                    <a:pt x="0" y="381000"/>
                  </a:cubicBez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5EE1B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191000" y="4857750"/>
            <a:ext cx="571500" cy="571500"/>
            <a:chOff x="0" y="0"/>
            <a:chExt cx="762000" cy="762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591420" y="0"/>
                    <a:pt x="762000" y="170580"/>
                    <a:pt x="762000" y="381000"/>
                  </a:cubicBezTo>
                  <a:cubicBezTo>
                    <a:pt x="762000" y="591420"/>
                    <a:pt x="591420" y="762000"/>
                    <a:pt x="381000" y="762000"/>
                  </a:cubicBezTo>
                  <a:cubicBezTo>
                    <a:pt x="170580" y="762000"/>
                    <a:pt x="0" y="591420"/>
                    <a:pt x="0" y="381000"/>
                  </a:cubicBez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5EE1B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239000" y="4857750"/>
            <a:ext cx="571500" cy="571500"/>
            <a:chOff x="0" y="0"/>
            <a:chExt cx="762000" cy="762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591420" y="0"/>
                    <a:pt x="762000" y="170580"/>
                    <a:pt x="762000" y="381000"/>
                  </a:cubicBezTo>
                  <a:cubicBezTo>
                    <a:pt x="762000" y="591420"/>
                    <a:pt x="591420" y="762000"/>
                    <a:pt x="381000" y="762000"/>
                  </a:cubicBezTo>
                  <a:cubicBezTo>
                    <a:pt x="170580" y="762000"/>
                    <a:pt x="0" y="591420"/>
                    <a:pt x="0" y="381000"/>
                  </a:cubicBez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5EE1B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0" y="4857750"/>
            <a:ext cx="571500" cy="571500"/>
            <a:chOff x="0" y="0"/>
            <a:chExt cx="762000" cy="762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591420" y="0"/>
                    <a:pt x="762000" y="170580"/>
                    <a:pt x="762000" y="381000"/>
                  </a:cubicBezTo>
                  <a:cubicBezTo>
                    <a:pt x="762000" y="591420"/>
                    <a:pt x="591420" y="762000"/>
                    <a:pt x="381000" y="762000"/>
                  </a:cubicBezTo>
                  <a:cubicBezTo>
                    <a:pt x="170580" y="762000"/>
                    <a:pt x="0" y="591420"/>
                    <a:pt x="0" y="381000"/>
                  </a:cubicBez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5EE1B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335000" y="4857750"/>
            <a:ext cx="571500" cy="571500"/>
            <a:chOff x="0" y="0"/>
            <a:chExt cx="762000" cy="762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591420" y="0"/>
                    <a:pt x="762000" y="170580"/>
                    <a:pt x="762000" y="381000"/>
                  </a:cubicBezTo>
                  <a:cubicBezTo>
                    <a:pt x="762000" y="591420"/>
                    <a:pt x="591420" y="762000"/>
                    <a:pt x="381000" y="762000"/>
                  </a:cubicBezTo>
                  <a:cubicBezTo>
                    <a:pt x="170580" y="762000"/>
                    <a:pt x="0" y="591420"/>
                    <a:pt x="0" y="381000"/>
                  </a:cubicBez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5EE1B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383000" y="4857750"/>
            <a:ext cx="571500" cy="571500"/>
            <a:chOff x="0" y="0"/>
            <a:chExt cx="762000" cy="762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591420" y="0"/>
                    <a:pt x="762000" y="170580"/>
                    <a:pt x="762000" y="381000"/>
                  </a:cubicBezTo>
                  <a:cubicBezTo>
                    <a:pt x="762000" y="591420"/>
                    <a:pt x="591420" y="762000"/>
                    <a:pt x="381000" y="762000"/>
                  </a:cubicBezTo>
                  <a:cubicBezTo>
                    <a:pt x="170580" y="762000"/>
                    <a:pt x="0" y="591420"/>
                    <a:pt x="0" y="381000"/>
                  </a:cubicBez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FF6B6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81000" y="3124200"/>
            <a:ext cx="2095500" cy="721197"/>
            <a:chOff x="0" y="38100"/>
            <a:chExt cx="2794000" cy="961596"/>
          </a:xfrm>
        </p:grpSpPr>
        <p:sp>
          <p:nvSpPr>
            <p:cNvPr id="18" name="TextBox 18"/>
            <p:cNvSpPr txBox="1"/>
            <p:nvPr/>
          </p:nvSpPr>
          <p:spPr>
            <a:xfrm>
              <a:off x="190500" y="38100"/>
              <a:ext cx="2413000" cy="393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95"/>
                </a:lnSpc>
              </a:pPr>
              <a:r>
                <a:rPr lang="en-US" sz="2500" b="1" dirty="0">
                  <a:solidFill>
                    <a:srgbClr val="5EE1B7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03/2023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606425"/>
              <a:ext cx="2794000" cy="393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0"/>
                </a:lnSpc>
              </a:pP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Bard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ra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mắt</a:t>
              </a:r>
              <a:endParaRPr lang="en-US" sz="2200" dirty="0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429000" y="5934075"/>
            <a:ext cx="2095500" cy="721197"/>
            <a:chOff x="0" y="38100"/>
            <a:chExt cx="2794000" cy="961596"/>
          </a:xfrm>
        </p:grpSpPr>
        <p:sp>
          <p:nvSpPr>
            <p:cNvPr id="21" name="TextBox 21"/>
            <p:cNvSpPr txBox="1"/>
            <p:nvPr/>
          </p:nvSpPr>
          <p:spPr>
            <a:xfrm>
              <a:off x="190500" y="38100"/>
              <a:ext cx="2413000" cy="393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95"/>
                </a:lnSpc>
              </a:pPr>
              <a:r>
                <a:rPr lang="en-US" sz="2500" b="1" dirty="0">
                  <a:solidFill>
                    <a:srgbClr val="5EE1B7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12/2023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606425"/>
              <a:ext cx="2794000" cy="393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0"/>
                </a:lnSpc>
              </a:pP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Gemini 1.0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77000" y="3124200"/>
            <a:ext cx="2095500" cy="1016149"/>
            <a:chOff x="0" y="38100"/>
            <a:chExt cx="2794000" cy="1354865"/>
          </a:xfrm>
        </p:grpSpPr>
        <p:sp>
          <p:nvSpPr>
            <p:cNvPr id="24" name="TextBox 24"/>
            <p:cNvSpPr txBox="1"/>
            <p:nvPr/>
          </p:nvSpPr>
          <p:spPr>
            <a:xfrm>
              <a:off x="190500" y="38100"/>
              <a:ext cx="2413000" cy="393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95"/>
                </a:lnSpc>
              </a:pPr>
              <a:r>
                <a:rPr lang="en-US" sz="2500" b="1" dirty="0">
                  <a:solidFill>
                    <a:srgbClr val="5EE1B7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02/2024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606425"/>
              <a:ext cx="2794000" cy="786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0"/>
                </a:lnSpc>
              </a:pP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Bard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đổi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tên</a:t>
              </a:r>
              <a:endParaRPr lang="en-US" sz="2200" dirty="0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endParaRPr>
            </a:p>
            <a:p>
              <a:pPr algn="ctr">
                <a:lnSpc>
                  <a:spcPts val="2330"/>
                </a:lnSpc>
              </a:pP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thành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Gemini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25000" y="5934075"/>
            <a:ext cx="2095500" cy="1016149"/>
            <a:chOff x="0" y="38100"/>
            <a:chExt cx="2794000" cy="1354865"/>
          </a:xfrm>
        </p:grpSpPr>
        <p:sp>
          <p:nvSpPr>
            <p:cNvPr id="27" name="TextBox 27"/>
            <p:cNvSpPr txBox="1"/>
            <p:nvPr/>
          </p:nvSpPr>
          <p:spPr>
            <a:xfrm>
              <a:off x="190500" y="38100"/>
              <a:ext cx="2413000" cy="393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95"/>
                </a:lnSpc>
              </a:pPr>
              <a:r>
                <a:rPr lang="en-US" sz="2500" b="1" dirty="0">
                  <a:solidFill>
                    <a:srgbClr val="5EE1B7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2024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606425"/>
              <a:ext cx="2794000" cy="786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0"/>
                </a:lnSpc>
              </a:pP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Gemini 1.5</a:t>
              </a:r>
            </a:p>
            <a:p>
              <a:pPr algn="ctr">
                <a:lnSpc>
                  <a:spcPts val="2330"/>
                </a:lnSpc>
              </a:pP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2.0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573000" y="3124200"/>
            <a:ext cx="2095500" cy="721197"/>
            <a:chOff x="0" y="38100"/>
            <a:chExt cx="2794000" cy="961596"/>
          </a:xfrm>
        </p:grpSpPr>
        <p:sp>
          <p:nvSpPr>
            <p:cNvPr id="30" name="TextBox 30"/>
            <p:cNvSpPr txBox="1"/>
            <p:nvPr/>
          </p:nvSpPr>
          <p:spPr>
            <a:xfrm>
              <a:off x="190500" y="38100"/>
              <a:ext cx="2413000" cy="393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95"/>
                </a:lnSpc>
              </a:pPr>
              <a:r>
                <a:rPr lang="en-US" sz="2500" b="1" dirty="0">
                  <a:solidFill>
                    <a:srgbClr val="5EE1B7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2025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606425"/>
              <a:ext cx="2794000" cy="393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0"/>
                </a:lnSpc>
              </a:pP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Gemini 2.5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621000" y="5549354"/>
            <a:ext cx="2095500" cy="1105918"/>
            <a:chOff x="0" y="-474861"/>
            <a:chExt cx="2794000" cy="1474556"/>
          </a:xfrm>
        </p:grpSpPr>
        <p:sp>
          <p:nvSpPr>
            <p:cNvPr id="33" name="TextBox 33"/>
            <p:cNvSpPr txBox="1"/>
            <p:nvPr/>
          </p:nvSpPr>
          <p:spPr>
            <a:xfrm>
              <a:off x="0" y="-474861"/>
              <a:ext cx="2603500" cy="10259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n-US" sz="2500" b="1" dirty="0">
                  <a:solidFill>
                    <a:srgbClr val="FF6B6B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CHƯA XÁC MINH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606425"/>
              <a:ext cx="2794000" cy="393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0"/>
                </a:lnSpc>
              </a:pP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“Gemini 3”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000250" y="8839200"/>
            <a:ext cx="14287500" cy="273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72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Nguồn</a:t>
            </a:r>
            <a:r>
              <a:rPr lang="en-US" sz="172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ưu</a:t>
            </a:r>
            <a:r>
              <a:rPr lang="en-US" sz="172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tiên</a:t>
            </a:r>
            <a:r>
              <a:rPr lang="en-US" sz="172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: Google Blog </a:t>
            </a:r>
            <a:r>
              <a:rPr lang="en-US" sz="172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và</a:t>
            </a:r>
            <a:r>
              <a:rPr lang="en-US" sz="172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tài</a:t>
            </a:r>
            <a:r>
              <a:rPr lang="en-US" sz="172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liệu</a:t>
            </a:r>
            <a:r>
              <a:rPr lang="en-US" sz="172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sản</a:t>
            </a:r>
            <a:r>
              <a:rPr lang="en-US" sz="172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phẩm</a:t>
            </a:r>
            <a:r>
              <a:rPr lang="en-US" sz="172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Google. </a:t>
            </a:r>
            <a:r>
              <a:rPr lang="en-US" sz="172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Không</a:t>
            </a:r>
            <a:r>
              <a:rPr lang="en-US" sz="172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dùng</a:t>
            </a:r>
            <a:r>
              <a:rPr lang="en-US" sz="172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mốc</a:t>
            </a:r>
            <a:r>
              <a:rPr lang="en-US" sz="172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“Gemini 3” </a:t>
            </a:r>
            <a:r>
              <a:rPr lang="en-US" sz="172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nếu</a:t>
            </a:r>
            <a:r>
              <a:rPr lang="en-US" sz="172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chưa</a:t>
            </a:r>
            <a:r>
              <a:rPr lang="en-US" sz="172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có</a:t>
            </a:r>
            <a:r>
              <a:rPr lang="en-US" sz="172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công</a:t>
            </a:r>
            <a:r>
              <a:rPr lang="en-US" sz="172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bố</a:t>
            </a:r>
            <a:r>
              <a:rPr lang="en-US" sz="172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chính</a:t>
            </a:r>
            <a:r>
              <a:rPr lang="en-US" sz="172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thức</a:t>
            </a:r>
            <a:r>
              <a:rPr lang="en-US" sz="172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có</a:t>
            </a:r>
            <a:r>
              <a:rPr lang="en-US" sz="172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thể</a:t>
            </a:r>
            <a:r>
              <a:rPr lang="en-US" sz="172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truy</a:t>
            </a:r>
            <a:r>
              <a:rPr lang="en-US" sz="172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72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vết</a:t>
            </a:r>
            <a:r>
              <a:rPr lang="en-US" sz="172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85800"/>
            <a:ext cx="14287500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5"/>
              </a:lnSpc>
            </a:pPr>
            <a:r>
              <a:rPr lang="en-US" sz="50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Claude: An </a:t>
            </a:r>
            <a:r>
              <a:rPr lang="en-US" sz="50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toàn</a:t>
            </a:r>
            <a:r>
              <a:rPr lang="en-US" sz="50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0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hiến</a:t>
            </a:r>
            <a:r>
              <a:rPr lang="en-US" sz="50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0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định</a:t>
            </a:r>
            <a:r>
              <a:rPr lang="en-US" sz="50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0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50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0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cộng</a:t>
            </a:r>
            <a:r>
              <a:rPr lang="en-US" sz="50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0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tác</a:t>
            </a:r>
            <a:r>
              <a:rPr lang="en-US" sz="50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0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chuyên</a:t>
            </a:r>
            <a:r>
              <a:rPr lang="en-US" sz="50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0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sâu</a:t>
            </a:r>
            <a:endParaRPr lang="en-US" sz="5000" b="1" dirty="0">
              <a:solidFill>
                <a:srgbClr val="172033"/>
              </a:solidFill>
              <a:latin typeface="Times New Roman" panose="02020603050405020304" pitchFamily="18" charset="0"/>
              <a:ea typeface="Bricolage Grotesque Bold" panose="020B0605040402000204"/>
              <a:cs typeface="Times New Roman" panose="02020603050405020304" pitchFamily="18" charset="0"/>
              <a:sym typeface="Bricolage Grotesque Bold" panose="020B06050404020002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14400" y="1381125"/>
            <a:ext cx="14382750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Lịch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sử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Anthropic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và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các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mốc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sản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phẩm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tiêu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biểu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00125" y="2952750"/>
            <a:ext cx="2857500" cy="4000500"/>
            <a:chOff x="0" y="0"/>
            <a:chExt cx="3810000" cy="533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10000" cy="5334000"/>
            </a:xfrm>
            <a:custGeom>
              <a:avLst/>
              <a:gdLst/>
              <a:ahLst/>
              <a:cxnLst/>
              <a:rect l="l" t="t" r="r" b="b"/>
              <a:pathLst>
                <a:path w="3810000" h="5334000">
                  <a:moveTo>
                    <a:pt x="0" y="0"/>
                  </a:moveTo>
                  <a:lnTo>
                    <a:pt x="3810000" y="0"/>
                  </a:lnTo>
                  <a:lnTo>
                    <a:pt x="3810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810000" cy="537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333875" y="2952750"/>
            <a:ext cx="2857500" cy="4000500"/>
            <a:chOff x="0" y="0"/>
            <a:chExt cx="3810000" cy="533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10000" cy="5334000"/>
            </a:xfrm>
            <a:custGeom>
              <a:avLst/>
              <a:gdLst/>
              <a:ahLst/>
              <a:cxnLst/>
              <a:rect l="l" t="t" r="r" b="b"/>
              <a:pathLst>
                <a:path w="3810000" h="5334000">
                  <a:moveTo>
                    <a:pt x="0" y="0"/>
                  </a:moveTo>
                  <a:lnTo>
                    <a:pt x="3810000" y="0"/>
                  </a:lnTo>
                  <a:lnTo>
                    <a:pt x="3810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DCEEF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810000" cy="537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67625" y="2952750"/>
            <a:ext cx="2857500" cy="4000500"/>
            <a:chOff x="0" y="0"/>
            <a:chExt cx="3810000" cy="533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10000" cy="5334000"/>
            </a:xfrm>
            <a:custGeom>
              <a:avLst/>
              <a:gdLst/>
              <a:ahLst/>
              <a:cxnLst/>
              <a:rect l="l" t="t" r="r" b="b"/>
              <a:pathLst>
                <a:path w="3810000" h="5334000">
                  <a:moveTo>
                    <a:pt x="0" y="0"/>
                  </a:moveTo>
                  <a:lnTo>
                    <a:pt x="3810000" y="0"/>
                  </a:lnTo>
                  <a:lnTo>
                    <a:pt x="3810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810000" cy="537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001375" y="2952750"/>
            <a:ext cx="2857500" cy="4000500"/>
            <a:chOff x="0" y="0"/>
            <a:chExt cx="3810000" cy="5334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810000" cy="5334000"/>
            </a:xfrm>
            <a:custGeom>
              <a:avLst/>
              <a:gdLst/>
              <a:ahLst/>
              <a:cxnLst/>
              <a:rect l="l" t="t" r="r" b="b"/>
              <a:pathLst>
                <a:path w="3810000" h="5334000">
                  <a:moveTo>
                    <a:pt x="0" y="0"/>
                  </a:moveTo>
                  <a:lnTo>
                    <a:pt x="3810000" y="0"/>
                  </a:lnTo>
                  <a:lnTo>
                    <a:pt x="3810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DCEEF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810000" cy="537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335125" y="2952750"/>
            <a:ext cx="2857500" cy="4000500"/>
            <a:chOff x="0" y="0"/>
            <a:chExt cx="3810000" cy="5334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810000" cy="5334000"/>
            </a:xfrm>
            <a:custGeom>
              <a:avLst/>
              <a:gdLst/>
              <a:ahLst/>
              <a:cxnLst/>
              <a:rect l="l" t="t" r="r" b="b"/>
              <a:pathLst>
                <a:path w="3810000" h="5334000">
                  <a:moveTo>
                    <a:pt x="0" y="0"/>
                  </a:moveTo>
                  <a:lnTo>
                    <a:pt x="3810000" y="0"/>
                  </a:lnTo>
                  <a:lnTo>
                    <a:pt x="38100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810000" cy="537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66825" y="3328987"/>
            <a:ext cx="2324100" cy="1602681"/>
            <a:chOff x="0" y="57149"/>
            <a:chExt cx="3098800" cy="2136909"/>
          </a:xfrm>
        </p:grpSpPr>
        <p:sp>
          <p:nvSpPr>
            <p:cNvPr id="20" name="TextBox 20"/>
            <p:cNvSpPr txBox="1"/>
            <p:nvPr/>
          </p:nvSpPr>
          <p:spPr>
            <a:xfrm>
              <a:off x="0" y="57149"/>
              <a:ext cx="3098800" cy="632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70"/>
                </a:lnSpc>
              </a:pPr>
              <a:r>
                <a:rPr lang="en-US" sz="3600" b="1" dirty="0">
                  <a:solidFill>
                    <a:srgbClr val="FF6B6B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2021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304926"/>
              <a:ext cx="3098800" cy="889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0"/>
                </a:lnSpc>
              </a:pP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Anthropic</a:t>
              </a:r>
            </a:p>
            <a:p>
              <a:pPr algn="l">
                <a:lnSpc>
                  <a:spcPts val="2630"/>
                </a:lnSpc>
              </a:pP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thành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lập</a:t>
              </a:r>
              <a:endParaRPr lang="en-US" sz="25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600575" y="3328987"/>
            <a:ext cx="2324100" cy="1269256"/>
            <a:chOff x="0" y="57149"/>
            <a:chExt cx="3098800" cy="1692342"/>
          </a:xfrm>
        </p:grpSpPr>
        <p:sp>
          <p:nvSpPr>
            <p:cNvPr id="23" name="TextBox 23"/>
            <p:cNvSpPr txBox="1"/>
            <p:nvPr/>
          </p:nvSpPr>
          <p:spPr>
            <a:xfrm>
              <a:off x="0" y="57149"/>
              <a:ext cx="3098800" cy="632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70"/>
                </a:lnSpc>
              </a:pPr>
              <a:r>
                <a:rPr lang="en-US" sz="3600" b="1" dirty="0">
                  <a:solidFill>
                    <a:srgbClr val="FF6B6B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2022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1304924"/>
              <a:ext cx="3098800" cy="4445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0"/>
                </a:lnSpc>
              </a:pP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Constitutional AI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934325" y="3328987"/>
            <a:ext cx="2324100" cy="1602681"/>
            <a:chOff x="0" y="57149"/>
            <a:chExt cx="3098800" cy="2136909"/>
          </a:xfrm>
        </p:grpSpPr>
        <p:sp>
          <p:nvSpPr>
            <p:cNvPr id="26" name="TextBox 26"/>
            <p:cNvSpPr txBox="1"/>
            <p:nvPr/>
          </p:nvSpPr>
          <p:spPr>
            <a:xfrm>
              <a:off x="0" y="57149"/>
              <a:ext cx="3098800" cy="632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70"/>
                </a:lnSpc>
              </a:pPr>
              <a:r>
                <a:rPr lang="en-US" sz="3600" b="1" dirty="0">
                  <a:solidFill>
                    <a:srgbClr val="FF6B6B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2023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1304926"/>
              <a:ext cx="3098800" cy="889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0"/>
                </a:lnSpc>
              </a:pP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Claude  2 / 2.1</a:t>
              </a:r>
            </a:p>
            <a:p>
              <a:pPr algn="l">
                <a:lnSpc>
                  <a:spcPts val="2630"/>
                </a:lnSpc>
              </a:pP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200K token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268075" y="3328987"/>
            <a:ext cx="2324100" cy="1602681"/>
            <a:chOff x="0" y="57149"/>
            <a:chExt cx="3098800" cy="2136909"/>
          </a:xfrm>
        </p:grpSpPr>
        <p:sp>
          <p:nvSpPr>
            <p:cNvPr id="29" name="TextBox 29"/>
            <p:cNvSpPr txBox="1"/>
            <p:nvPr/>
          </p:nvSpPr>
          <p:spPr>
            <a:xfrm>
              <a:off x="0" y="57149"/>
              <a:ext cx="3098800" cy="632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70"/>
                </a:lnSpc>
              </a:pPr>
              <a:r>
                <a:rPr lang="en-US" sz="3600" b="1" dirty="0">
                  <a:solidFill>
                    <a:srgbClr val="FF6B6B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2024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1304926"/>
              <a:ext cx="3098800" cy="889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0"/>
                </a:lnSpc>
              </a:pP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Claude 3 / 3.5</a:t>
              </a:r>
            </a:p>
            <a:p>
              <a:pPr algn="l">
                <a:lnSpc>
                  <a:spcPts val="2630"/>
                </a:lnSpc>
              </a:pP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Artifacts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4601825" y="3328987"/>
            <a:ext cx="2324100" cy="1602681"/>
            <a:chOff x="0" y="57149"/>
            <a:chExt cx="3098800" cy="2136909"/>
          </a:xfrm>
        </p:grpSpPr>
        <p:sp>
          <p:nvSpPr>
            <p:cNvPr id="32" name="TextBox 32"/>
            <p:cNvSpPr txBox="1"/>
            <p:nvPr/>
          </p:nvSpPr>
          <p:spPr>
            <a:xfrm>
              <a:off x="0" y="57149"/>
              <a:ext cx="3098800" cy="632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70"/>
                </a:lnSpc>
              </a:pPr>
              <a:r>
                <a:rPr lang="en-US" sz="3600" b="1" dirty="0">
                  <a:solidFill>
                    <a:srgbClr val="FF6B6B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2025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1304926"/>
              <a:ext cx="3098800" cy="889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0"/>
                </a:lnSpc>
              </a:pP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Claude 4</a:t>
              </a:r>
            </a:p>
            <a:p>
              <a:pPr algn="l">
                <a:lnSpc>
                  <a:spcPts val="2630"/>
                </a:lnSpc>
              </a:pP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Claude Code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428750" y="8315325"/>
            <a:ext cx="15430500" cy="275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Nguồn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chính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: Anthropic (research, news, docs). Medium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chỉ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dùng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như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nguồn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thứ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cấp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để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định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hướng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,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không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thay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thế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thông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báo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sản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phẩm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95325"/>
            <a:ext cx="14287500" cy="724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78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Ma </a:t>
            </a:r>
            <a:r>
              <a:rPr lang="en-US" sz="7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trận</a:t>
            </a:r>
            <a:r>
              <a:rPr lang="en-US" sz="78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so </a:t>
            </a:r>
            <a:r>
              <a:rPr lang="en-US" sz="7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sánh</a:t>
            </a:r>
            <a:r>
              <a:rPr lang="en-US" sz="78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7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tổng</a:t>
            </a:r>
            <a:r>
              <a:rPr lang="en-US" sz="78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78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quan</a:t>
            </a:r>
            <a:endParaRPr lang="en-US" sz="7800" b="1" dirty="0">
              <a:solidFill>
                <a:srgbClr val="FFFFFF"/>
              </a:solidFill>
              <a:latin typeface="Times New Roman" panose="02020603050405020304" pitchFamily="18" charset="0"/>
              <a:ea typeface="Bricolage Grotesque Bold" panose="020B0605040402000204"/>
              <a:cs typeface="Times New Roman" panose="02020603050405020304" pitchFamily="18" charset="0"/>
              <a:sym typeface="Bricolage Grotesque Bold" panose="020B06050404020002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14400" y="1381125"/>
            <a:ext cx="14382750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Đánh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giá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định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tính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theo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năng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lực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phổ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biến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;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phiên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bản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,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khu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vực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và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gói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có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thể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làm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thay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đổi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kết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quả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2381250"/>
            <a:ext cx="4953000" cy="685800"/>
            <a:chOff x="0" y="0"/>
            <a:chExt cx="6604000" cy="91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04000" cy="914400"/>
            </a:xfrm>
            <a:custGeom>
              <a:avLst/>
              <a:gdLst/>
              <a:ahLst/>
              <a:cxnLst/>
              <a:rect l="l" t="t" r="r" b="b"/>
              <a:pathLst>
                <a:path w="6604000" h="9144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870438"/>
                  </a:lnTo>
                  <a:cubicBezTo>
                    <a:pt x="6604000" y="882098"/>
                    <a:pt x="6599368" y="893280"/>
                    <a:pt x="6591124" y="901524"/>
                  </a:cubicBezTo>
                  <a:cubicBezTo>
                    <a:pt x="6582880" y="909768"/>
                    <a:pt x="6571698" y="914400"/>
                    <a:pt x="6560038" y="914400"/>
                  </a:cubicBezTo>
                  <a:lnTo>
                    <a:pt x="43962" y="914400"/>
                  </a:lnTo>
                  <a:cubicBezTo>
                    <a:pt x="32302" y="914400"/>
                    <a:pt x="21120" y="909768"/>
                    <a:pt x="12876" y="901524"/>
                  </a:cubicBezTo>
                  <a:cubicBezTo>
                    <a:pt x="4632" y="893280"/>
                    <a:pt x="0" y="882098"/>
                    <a:pt x="0" y="870438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FF6B6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6604000" cy="962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b="1" dirty="0">
                  <a:solidFill>
                    <a:srgbClr val="0B132B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TIÊU CHÍ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191250" y="2381250"/>
            <a:ext cx="3429000" cy="685800"/>
            <a:chOff x="0" y="0"/>
            <a:chExt cx="4572000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72000" cy="914400"/>
            </a:xfrm>
            <a:custGeom>
              <a:avLst/>
              <a:gdLst/>
              <a:ahLst/>
              <a:cxnLst/>
              <a:rect l="l" t="t" r="r" b="b"/>
              <a:pathLst>
                <a:path w="4572000" h="9144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850900"/>
                  </a:lnTo>
                  <a:cubicBezTo>
                    <a:pt x="4572000" y="885970"/>
                    <a:pt x="4543570" y="914400"/>
                    <a:pt x="4508500" y="914400"/>
                  </a:cubicBezTo>
                  <a:lnTo>
                    <a:pt x="63500" y="914400"/>
                  </a:lnTo>
                  <a:cubicBezTo>
                    <a:pt x="28430" y="914400"/>
                    <a:pt x="0" y="885970"/>
                    <a:pt x="0" y="8509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4CC9F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572000" cy="962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b="1" dirty="0">
                  <a:solidFill>
                    <a:srgbClr val="0B132B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CHATGPT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810750" y="2381250"/>
            <a:ext cx="3429000" cy="685800"/>
            <a:chOff x="0" y="0"/>
            <a:chExt cx="4572000" cy="91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72000" cy="914400"/>
            </a:xfrm>
            <a:custGeom>
              <a:avLst/>
              <a:gdLst/>
              <a:ahLst/>
              <a:cxnLst/>
              <a:rect l="l" t="t" r="r" b="b"/>
              <a:pathLst>
                <a:path w="4572000" h="9144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850900"/>
                  </a:lnTo>
                  <a:cubicBezTo>
                    <a:pt x="4572000" y="885970"/>
                    <a:pt x="4543570" y="914400"/>
                    <a:pt x="4508500" y="914400"/>
                  </a:cubicBezTo>
                  <a:lnTo>
                    <a:pt x="63500" y="914400"/>
                  </a:lnTo>
                  <a:cubicBezTo>
                    <a:pt x="28430" y="914400"/>
                    <a:pt x="0" y="885970"/>
                    <a:pt x="0" y="8509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5EE1B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572000" cy="962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b="1" dirty="0">
                  <a:solidFill>
                    <a:srgbClr val="0B132B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GEMINI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430250" y="2381250"/>
            <a:ext cx="3810000" cy="685800"/>
            <a:chOff x="0" y="0"/>
            <a:chExt cx="5080000" cy="914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080000" cy="914400"/>
            </a:xfrm>
            <a:custGeom>
              <a:avLst/>
              <a:gdLst/>
              <a:ahLst/>
              <a:cxnLst/>
              <a:rect l="l" t="t" r="r" b="b"/>
              <a:pathLst>
                <a:path w="5080000" h="914400">
                  <a:moveTo>
                    <a:pt x="57150" y="0"/>
                  </a:moveTo>
                  <a:lnTo>
                    <a:pt x="5022850" y="0"/>
                  </a:lnTo>
                  <a:cubicBezTo>
                    <a:pt x="5054413" y="0"/>
                    <a:pt x="5080000" y="25587"/>
                    <a:pt x="5080000" y="57150"/>
                  </a:cubicBezTo>
                  <a:lnTo>
                    <a:pt x="5080000" y="857250"/>
                  </a:lnTo>
                  <a:cubicBezTo>
                    <a:pt x="5080000" y="888813"/>
                    <a:pt x="5054413" y="914400"/>
                    <a:pt x="5022850" y="914400"/>
                  </a:cubicBezTo>
                  <a:lnTo>
                    <a:pt x="57150" y="914400"/>
                  </a:lnTo>
                  <a:cubicBezTo>
                    <a:pt x="25587" y="914400"/>
                    <a:pt x="0" y="888813"/>
                    <a:pt x="0" y="8572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C85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5080000" cy="962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b="1" dirty="0">
                  <a:solidFill>
                    <a:srgbClr val="0B132B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CLAUDE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7750" y="3238500"/>
            <a:ext cx="16192500" cy="590550"/>
            <a:chOff x="0" y="0"/>
            <a:chExt cx="21590000" cy="787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590000" cy="787400"/>
            </a:xfrm>
            <a:custGeom>
              <a:avLst/>
              <a:gdLst/>
              <a:ahLst/>
              <a:cxnLst/>
              <a:rect l="l" t="t" r="r" b="b"/>
              <a:pathLst>
                <a:path w="21590000" h="787400">
                  <a:moveTo>
                    <a:pt x="0" y="0"/>
                  </a:moveTo>
                  <a:lnTo>
                    <a:pt x="21590000" y="0"/>
                  </a:lnTo>
                  <a:lnTo>
                    <a:pt x="215900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111C3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1590000" cy="825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00150" y="3962400"/>
            <a:ext cx="16192500" cy="590550"/>
            <a:chOff x="0" y="0"/>
            <a:chExt cx="21590000" cy="787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590000" cy="787400"/>
            </a:xfrm>
            <a:custGeom>
              <a:avLst/>
              <a:gdLst/>
              <a:ahLst/>
              <a:cxnLst/>
              <a:rect l="l" t="t" r="r" b="b"/>
              <a:pathLst>
                <a:path w="21590000" h="787400">
                  <a:moveTo>
                    <a:pt x="0" y="0"/>
                  </a:moveTo>
                  <a:lnTo>
                    <a:pt x="21590000" y="0"/>
                  </a:lnTo>
                  <a:lnTo>
                    <a:pt x="215900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16213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1590000" cy="825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47750" y="4686300"/>
            <a:ext cx="16192500" cy="590550"/>
            <a:chOff x="0" y="0"/>
            <a:chExt cx="21590000" cy="787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590000" cy="787400"/>
            </a:xfrm>
            <a:custGeom>
              <a:avLst/>
              <a:gdLst/>
              <a:ahLst/>
              <a:cxnLst/>
              <a:rect l="l" t="t" r="r" b="b"/>
              <a:pathLst>
                <a:path w="21590000" h="787400">
                  <a:moveTo>
                    <a:pt x="0" y="0"/>
                  </a:moveTo>
                  <a:lnTo>
                    <a:pt x="21590000" y="0"/>
                  </a:lnTo>
                  <a:lnTo>
                    <a:pt x="215900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111C3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21590000" cy="825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47750" y="5410200"/>
            <a:ext cx="16192500" cy="590550"/>
            <a:chOff x="0" y="0"/>
            <a:chExt cx="21590000" cy="787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590000" cy="787400"/>
            </a:xfrm>
            <a:custGeom>
              <a:avLst/>
              <a:gdLst/>
              <a:ahLst/>
              <a:cxnLst/>
              <a:rect l="l" t="t" r="r" b="b"/>
              <a:pathLst>
                <a:path w="21590000" h="787400">
                  <a:moveTo>
                    <a:pt x="0" y="0"/>
                  </a:moveTo>
                  <a:lnTo>
                    <a:pt x="21590000" y="0"/>
                  </a:lnTo>
                  <a:lnTo>
                    <a:pt x="215900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16213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21590000" cy="825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47750" y="6134100"/>
            <a:ext cx="16192500" cy="590550"/>
            <a:chOff x="0" y="0"/>
            <a:chExt cx="21590000" cy="787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590000" cy="787400"/>
            </a:xfrm>
            <a:custGeom>
              <a:avLst/>
              <a:gdLst/>
              <a:ahLst/>
              <a:cxnLst/>
              <a:rect l="l" t="t" r="r" b="b"/>
              <a:pathLst>
                <a:path w="21590000" h="787400">
                  <a:moveTo>
                    <a:pt x="0" y="0"/>
                  </a:moveTo>
                  <a:lnTo>
                    <a:pt x="21590000" y="0"/>
                  </a:lnTo>
                  <a:lnTo>
                    <a:pt x="215900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111C3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1590000" cy="825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47750" y="6858000"/>
            <a:ext cx="16192500" cy="590550"/>
            <a:chOff x="0" y="0"/>
            <a:chExt cx="21590000" cy="787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590000" cy="787400"/>
            </a:xfrm>
            <a:custGeom>
              <a:avLst/>
              <a:gdLst/>
              <a:ahLst/>
              <a:cxnLst/>
              <a:rect l="l" t="t" r="r" b="b"/>
              <a:pathLst>
                <a:path w="21590000" h="787400">
                  <a:moveTo>
                    <a:pt x="0" y="0"/>
                  </a:moveTo>
                  <a:lnTo>
                    <a:pt x="21590000" y="0"/>
                  </a:lnTo>
                  <a:lnTo>
                    <a:pt x="215900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16213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21590000" cy="825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47750" y="7581900"/>
            <a:ext cx="16192500" cy="590550"/>
            <a:chOff x="0" y="0"/>
            <a:chExt cx="21590000" cy="7874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590000" cy="787400"/>
            </a:xfrm>
            <a:custGeom>
              <a:avLst/>
              <a:gdLst/>
              <a:ahLst/>
              <a:cxnLst/>
              <a:rect l="l" t="t" r="r" b="b"/>
              <a:pathLst>
                <a:path w="21590000" h="787400">
                  <a:moveTo>
                    <a:pt x="0" y="0"/>
                  </a:moveTo>
                  <a:lnTo>
                    <a:pt x="21590000" y="0"/>
                  </a:lnTo>
                  <a:lnTo>
                    <a:pt x="215900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111C3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21590000" cy="825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47750" y="8305800"/>
            <a:ext cx="16192500" cy="590550"/>
            <a:chOff x="0" y="0"/>
            <a:chExt cx="21590000" cy="787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590000" cy="787400"/>
            </a:xfrm>
            <a:custGeom>
              <a:avLst/>
              <a:gdLst/>
              <a:ahLst/>
              <a:cxnLst/>
              <a:rect l="l" t="t" r="r" b="b"/>
              <a:pathLst>
                <a:path w="21590000" h="787400">
                  <a:moveTo>
                    <a:pt x="0" y="0"/>
                  </a:moveTo>
                  <a:lnTo>
                    <a:pt x="21590000" y="0"/>
                  </a:lnTo>
                  <a:lnTo>
                    <a:pt x="215900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16213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21590000" cy="825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200150" y="3343275"/>
            <a:ext cx="4648200" cy="296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0"/>
              </a:lnSpc>
            </a:pPr>
            <a:r>
              <a:rPr lang="en-US" sz="25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Viết</a:t>
            </a: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 &amp; </a:t>
            </a:r>
            <a:r>
              <a:rPr lang="en-US" sz="25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tóm</a:t>
            </a: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tắt</a:t>
            </a:r>
            <a:endParaRPr lang="en-US" sz="2500" b="1" dirty="0">
              <a:solidFill>
                <a:srgbClr val="FFFFFF"/>
              </a:solidFill>
              <a:latin typeface="Times New Roman" panose="02020603050405020304" pitchFamily="18" charset="0"/>
              <a:ea typeface="Be Vietnam Ultra-Bold" panose="00000900000000000000"/>
              <a:cs typeface="Times New Roman" panose="02020603050405020304" pitchFamily="18" charset="0"/>
              <a:sym typeface="Be Vietnam Ultra-Bold" panose="00000900000000000000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6343650" y="3343275"/>
            <a:ext cx="3124200" cy="28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25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Mạnh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963150" y="3343275"/>
            <a:ext cx="3124200" cy="28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2500">
                <a:solidFill>
                  <a:srgbClr val="5EE1B7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Khá</a:t>
            </a:r>
            <a:r>
              <a:rPr lang="en-US" sz="2500" dirty="0">
                <a:solidFill>
                  <a:srgbClr val="5EE1B7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>
                <a:solidFill>
                  <a:srgbClr val="5EE1B7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mạnh</a:t>
            </a:r>
            <a:endParaRPr lang="en-US" sz="2500" dirty="0">
              <a:solidFill>
                <a:srgbClr val="5EE1B7"/>
              </a:solidFill>
              <a:latin typeface="Times New Roman" panose="02020603050405020304" pitchFamily="18" charset="0"/>
              <a:ea typeface="Be Vietnam" panose="00000500000000000000"/>
              <a:cs typeface="Times New Roman" panose="02020603050405020304" pitchFamily="18" charset="0"/>
              <a:sym typeface="Be Vietnam" panose="00000500000000000000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3582650" y="3343275"/>
            <a:ext cx="3505200" cy="28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2500" dirty="0" err="1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Rất</a:t>
            </a:r>
            <a:r>
              <a:rPr lang="en-US" sz="2500" dirty="0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mạnh</a:t>
            </a:r>
            <a:endParaRPr lang="en-US" sz="2500" dirty="0">
              <a:solidFill>
                <a:srgbClr val="F6C85F"/>
              </a:solidFill>
              <a:latin typeface="Times New Roman" panose="02020603050405020304" pitchFamily="18" charset="0"/>
              <a:ea typeface="Be Vietnam" panose="00000500000000000000"/>
              <a:cs typeface="Times New Roman" panose="02020603050405020304" pitchFamily="18" charset="0"/>
              <a:sym typeface="Be Vietnam" panose="00000500000000000000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200150" y="4067175"/>
            <a:ext cx="4648200" cy="296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0"/>
              </a:lnSpc>
            </a:pPr>
            <a:r>
              <a:rPr lang="en-US" sz="25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Lập</a:t>
            </a: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trình</a:t>
            </a:r>
            <a:endParaRPr lang="en-US" sz="2500" b="1" dirty="0">
              <a:solidFill>
                <a:srgbClr val="FFFFFF"/>
              </a:solidFill>
              <a:latin typeface="Times New Roman" panose="02020603050405020304" pitchFamily="18" charset="0"/>
              <a:ea typeface="Be Vietnam Ultra-Bold" panose="00000900000000000000"/>
              <a:cs typeface="Times New Roman" panose="02020603050405020304" pitchFamily="18" charset="0"/>
              <a:sym typeface="Be Vietnam Ultra-Bold" panose="00000900000000000000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6343650" y="4143898"/>
            <a:ext cx="3124200" cy="28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25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Mạnh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963150" y="4067175"/>
            <a:ext cx="3124200" cy="28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2500" dirty="0">
                <a:solidFill>
                  <a:srgbClr val="5EE1B7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Mạnh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582650" y="4127795"/>
            <a:ext cx="3505200" cy="28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2500" dirty="0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Mạnh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00150" y="4791075"/>
            <a:ext cx="4648200" cy="296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0"/>
              </a:lnSpc>
            </a:pP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Thông tin </a:t>
            </a:r>
            <a:r>
              <a:rPr lang="en-US" sz="25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mới</a:t>
            </a:r>
            <a:endParaRPr lang="en-US" sz="2500" b="1" dirty="0">
              <a:solidFill>
                <a:srgbClr val="FFFFFF"/>
              </a:solidFill>
              <a:latin typeface="Times New Roman" panose="02020603050405020304" pitchFamily="18" charset="0"/>
              <a:ea typeface="Be Vietnam Ultra-Bold" panose="00000900000000000000"/>
              <a:cs typeface="Times New Roman" panose="02020603050405020304" pitchFamily="18" charset="0"/>
              <a:sym typeface="Be Vietnam Ultra-Bold" panose="00000900000000000000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6343650" y="4895850"/>
            <a:ext cx="3124200" cy="28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25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Có</a:t>
            </a:r>
            <a:r>
              <a:rPr lang="en-US" sz="25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duyệt</a:t>
            </a:r>
            <a:r>
              <a:rPr lang="en-US" sz="25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web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963150" y="4791075"/>
            <a:ext cx="3124200" cy="28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2500" dirty="0">
                <a:solidFill>
                  <a:srgbClr val="5EE1B7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Mạnh </a:t>
            </a:r>
            <a:r>
              <a:rPr lang="en-US" sz="2500" dirty="0" err="1">
                <a:solidFill>
                  <a:srgbClr val="5EE1B7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với</a:t>
            </a:r>
            <a:r>
              <a:rPr lang="en-US" sz="2500" dirty="0">
                <a:solidFill>
                  <a:srgbClr val="5EE1B7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Search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3582650" y="4791075"/>
            <a:ext cx="3505200" cy="28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2500" dirty="0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Tùy </a:t>
            </a:r>
            <a:r>
              <a:rPr lang="en-US" sz="2500" dirty="0" err="1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quyền</a:t>
            </a:r>
            <a:r>
              <a:rPr lang="en-US" sz="2500" dirty="0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truy</a:t>
            </a:r>
            <a:r>
              <a:rPr lang="en-US" sz="2500" dirty="0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cập</a:t>
            </a:r>
            <a:endParaRPr lang="en-US" sz="2500" dirty="0">
              <a:solidFill>
                <a:srgbClr val="F6C85F"/>
              </a:solidFill>
              <a:latin typeface="Times New Roman" panose="02020603050405020304" pitchFamily="18" charset="0"/>
              <a:ea typeface="Be Vietnam" panose="00000500000000000000"/>
              <a:cs typeface="Times New Roman" panose="02020603050405020304" pitchFamily="18" charset="0"/>
              <a:sym typeface="Be Vietnam" panose="00000500000000000000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200150" y="5514975"/>
            <a:ext cx="4648200" cy="296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0"/>
              </a:lnSpc>
            </a:pPr>
            <a:r>
              <a:rPr lang="en-US" sz="25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Ảnh</a:t>
            </a: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và</a:t>
            </a: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tệp</a:t>
            </a:r>
            <a:endParaRPr lang="en-US" sz="2500" b="1" dirty="0">
              <a:solidFill>
                <a:srgbClr val="FFFFFF"/>
              </a:solidFill>
              <a:latin typeface="Times New Roman" panose="02020603050405020304" pitchFamily="18" charset="0"/>
              <a:ea typeface="Be Vietnam Ultra-Bold" panose="00000900000000000000"/>
              <a:cs typeface="Times New Roman" panose="02020603050405020304" pitchFamily="18" charset="0"/>
              <a:sym typeface="Be Vietnam Ultra-Bold" panose="00000900000000000000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6362700" y="5577619"/>
            <a:ext cx="3124200" cy="28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25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Mạnh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963150" y="5514975"/>
            <a:ext cx="3124200" cy="28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2500" dirty="0" err="1">
                <a:solidFill>
                  <a:srgbClr val="5EE1B7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Rất</a:t>
            </a:r>
            <a:r>
              <a:rPr lang="en-US" sz="2500" dirty="0">
                <a:solidFill>
                  <a:srgbClr val="5EE1B7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5EE1B7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mạnh</a:t>
            </a:r>
            <a:endParaRPr lang="en-US" sz="2500" dirty="0">
              <a:solidFill>
                <a:srgbClr val="5EE1B7"/>
              </a:solidFill>
              <a:latin typeface="Times New Roman" panose="02020603050405020304" pitchFamily="18" charset="0"/>
              <a:ea typeface="Be Vietnam" panose="00000500000000000000"/>
              <a:cs typeface="Times New Roman" panose="02020603050405020304" pitchFamily="18" charset="0"/>
              <a:sym typeface="Be Vietnam" panose="00000500000000000000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3594940" y="5595191"/>
            <a:ext cx="3505200" cy="28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2500" dirty="0" err="1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Tập</a:t>
            </a:r>
            <a:r>
              <a:rPr lang="en-US" sz="2500" dirty="0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trung</a:t>
            </a:r>
            <a:r>
              <a:rPr lang="en-US" sz="2500" dirty="0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tài</a:t>
            </a:r>
            <a:r>
              <a:rPr lang="en-US" sz="2500" dirty="0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liệu</a:t>
            </a:r>
            <a:endParaRPr lang="en-US" sz="2500" dirty="0">
              <a:solidFill>
                <a:srgbClr val="F6C85F"/>
              </a:solidFill>
              <a:latin typeface="Times New Roman" panose="02020603050405020304" pitchFamily="18" charset="0"/>
              <a:ea typeface="Be Vietnam" panose="00000500000000000000"/>
              <a:cs typeface="Times New Roman" panose="02020603050405020304" pitchFamily="18" charset="0"/>
              <a:sym typeface="Be Vietnam" panose="00000500000000000000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200150" y="6238875"/>
            <a:ext cx="4648200" cy="296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0"/>
              </a:lnSpc>
            </a:pPr>
            <a:r>
              <a:rPr lang="en-US" sz="25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Ngữ</a:t>
            </a: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cảnh</a:t>
            </a: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dài</a:t>
            </a:r>
            <a:endParaRPr lang="en-US" sz="2500" b="1" dirty="0">
              <a:solidFill>
                <a:srgbClr val="FFFFFF"/>
              </a:solidFill>
              <a:latin typeface="Times New Roman" panose="02020603050405020304" pitchFamily="18" charset="0"/>
              <a:ea typeface="Be Vietnam Ultra-Bold" panose="00000900000000000000"/>
              <a:cs typeface="Times New Roman" panose="02020603050405020304" pitchFamily="18" charset="0"/>
              <a:sym typeface="Be Vietnam Ultra-Bold" panose="00000900000000000000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6343650" y="6329412"/>
            <a:ext cx="3124200" cy="28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25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Theo </a:t>
            </a:r>
            <a:r>
              <a:rPr lang="en-US" sz="25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gói</a:t>
            </a:r>
            <a:r>
              <a:rPr lang="en-US" sz="25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/model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963150" y="6238875"/>
            <a:ext cx="3124200" cy="28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2500" dirty="0" err="1">
                <a:solidFill>
                  <a:srgbClr val="5EE1B7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Rất</a:t>
            </a:r>
            <a:r>
              <a:rPr lang="en-US" sz="2500" dirty="0">
                <a:solidFill>
                  <a:srgbClr val="5EE1B7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5EE1B7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lớn</a:t>
            </a:r>
            <a:endParaRPr lang="en-US" sz="2500" dirty="0">
              <a:solidFill>
                <a:srgbClr val="5EE1B7"/>
              </a:solidFill>
              <a:latin typeface="Times New Roman" panose="02020603050405020304" pitchFamily="18" charset="0"/>
              <a:ea typeface="Be Vietnam" panose="00000500000000000000"/>
              <a:cs typeface="Times New Roman" panose="02020603050405020304" pitchFamily="18" charset="0"/>
              <a:sym typeface="Be Vietnam" panose="00000500000000000000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13582650" y="6238875"/>
            <a:ext cx="3505200" cy="28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2500" dirty="0" err="1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Rất</a:t>
            </a:r>
            <a:r>
              <a:rPr lang="en-US" sz="2500" dirty="0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lớn</a:t>
            </a:r>
            <a:endParaRPr lang="en-US" sz="2500" dirty="0">
              <a:solidFill>
                <a:srgbClr val="F6C85F"/>
              </a:solidFill>
              <a:latin typeface="Times New Roman" panose="02020603050405020304" pitchFamily="18" charset="0"/>
              <a:ea typeface="Be Vietnam" panose="00000500000000000000"/>
              <a:cs typeface="Times New Roman" panose="02020603050405020304" pitchFamily="18" charset="0"/>
              <a:sym typeface="Be Vietnam" panose="00000500000000000000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1200150" y="6962775"/>
            <a:ext cx="4648200" cy="296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0"/>
              </a:lnSpc>
            </a:pPr>
            <a:r>
              <a:rPr lang="en-US" sz="25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Hệ</a:t>
            </a: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sinh</a:t>
            </a: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thái</a:t>
            </a:r>
            <a:endParaRPr lang="en-US" sz="2500" b="1" dirty="0">
              <a:solidFill>
                <a:srgbClr val="FFFFFF"/>
              </a:solidFill>
              <a:latin typeface="Times New Roman" panose="02020603050405020304" pitchFamily="18" charset="0"/>
              <a:ea typeface="Be Vietnam Ultra-Bold" panose="00000900000000000000"/>
              <a:cs typeface="Times New Roman" panose="02020603050405020304" pitchFamily="18" charset="0"/>
              <a:sym typeface="Be Vietnam Ultra-Bold" panose="00000900000000000000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6355940" y="7012558"/>
            <a:ext cx="3124200" cy="28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25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API / </a:t>
            </a:r>
            <a:r>
              <a:rPr lang="en-US" sz="25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ứng</a:t>
            </a:r>
            <a:r>
              <a:rPr lang="en-US" sz="25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dụng</a:t>
            </a:r>
            <a:endParaRPr lang="en-US" sz="2500" dirty="0">
              <a:solidFill>
                <a:srgbClr val="4CC9F0"/>
              </a:solidFill>
              <a:latin typeface="Times New Roman" panose="02020603050405020304" pitchFamily="18" charset="0"/>
              <a:ea typeface="Be Vietnam" panose="00000500000000000000"/>
              <a:cs typeface="Times New Roman" panose="02020603050405020304" pitchFamily="18" charset="0"/>
              <a:sym typeface="Be Vietnam" panose="00000500000000000000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9963150" y="6962775"/>
            <a:ext cx="3124200" cy="28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2500" dirty="0">
                <a:solidFill>
                  <a:srgbClr val="5EE1B7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Google / Android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3594940" y="7018433"/>
            <a:ext cx="3505200" cy="28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2500" dirty="0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API / </a:t>
            </a:r>
            <a:r>
              <a:rPr lang="en-US" sz="2500" dirty="0" err="1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công</a:t>
            </a:r>
            <a:r>
              <a:rPr lang="en-US" sz="2500" dirty="0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cụ</a:t>
            </a:r>
            <a:r>
              <a:rPr lang="en-US" sz="2500" dirty="0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dev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00150" y="7686675"/>
            <a:ext cx="4648200" cy="296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0"/>
              </a:lnSpc>
            </a:pP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Quyền </a:t>
            </a:r>
            <a:r>
              <a:rPr lang="en-US" sz="25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riêng</a:t>
            </a: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tư</a:t>
            </a:r>
            <a:endParaRPr lang="en-US" sz="2500" b="1" dirty="0">
              <a:solidFill>
                <a:srgbClr val="FFFFFF"/>
              </a:solidFill>
              <a:latin typeface="Times New Roman" panose="02020603050405020304" pitchFamily="18" charset="0"/>
              <a:ea typeface="Be Vietnam Ultra-Bold" panose="00000900000000000000"/>
              <a:cs typeface="Times New Roman" panose="02020603050405020304" pitchFamily="18" charset="0"/>
              <a:sym typeface="Be Vietnam Ultra-Bold" panose="00000900000000000000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6355940" y="7811963"/>
            <a:ext cx="3124200" cy="28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25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Theo </a:t>
            </a:r>
            <a:r>
              <a:rPr lang="en-US" sz="25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gói</a:t>
            </a:r>
            <a:r>
              <a:rPr lang="en-US" sz="25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/</a:t>
            </a:r>
            <a:r>
              <a:rPr lang="en-US" sz="25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chính</a:t>
            </a:r>
            <a:r>
              <a:rPr lang="en-US" sz="25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sách</a:t>
            </a:r>
            <a:endParaRPr lang="en-US" sz="2500" dirty="0">
              <a:solidFill>
                <a:srgbClr val="4CC9F0"/>
              </a:solidFill>
              <a:latin typeface="Times New Roman" panose="02020603050405020304" pitchFamily="18" charset="0"/>
              <a:ea typeface="Be Vietnam" panose="00000500000000000000"/>
              <a:cs typeface="Times New Roman" panose="02020603050405020304" pitchFamily="18" charset="0"/>
              <a:sym typeface="Be Vietnam" panose="00000500000000000000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9963150" y="7686675"/>
            <a:ext cx="3124200" cy="28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2500" dirty="0">
                <a:solidFill>
                  <a:srgbClr val="5EE1B7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Theo </a:t>
            </a:r>
            <a:r>
              <a:rPr lang="en-US" sz="2500" dirty="0" err="1">
                <a:solidFill>
                  <a:srgbClr val="5EE1B7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tài</a:t>
            </a:r>
            <a:r>
              <a:rPr lang="en-US" sz="2500" dirty="0">
                <a:solidFill>
                  <a:srgbClr val="5EE1B7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5EE1B7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khoản</a:t>
            </a:r>
            <a:r>
              <a:rPr lang="en-US" sz="2500" dirty="0">
                <a:solidFill>
                  <a:srgbClr val="5EE1B7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/</a:t>
            </a:r>
            <a:r>
              <a:rPr lang="en-US" sz="2500" dirty="0" err="1">
                <a:solidFill>
                  <a:srgbClr val="5EE1B7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gói</a:t>
            </a:r>
            <a:endParaRPr lang="en-US" sz="2500" dirty="0">
              <a:solidFill>
                <a:srgbClr val="5EE1B7"/>
              </a:solidFill>
              <a:latin typeface="Times New Roman" panose="02020603050405020304" pitchFamily="18" charset="0"/>
              <a:ea typeface="Be Vietnam" panose="00000500000000000000"/>
              <a:cs typeface="Times New Roman" panose="02020603050405020304" pitchFamily="18" charset="0"/>
              <a:sym typeface="Be Vietnam" panose="00000500000000000000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13594940" y="7775919"/>
            <a:ext cx="3505200" cy="28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2500" dirty="0" err="1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Nhấn</a:t>
            </a:r>
            <a:r>
              <a:rPr lang="en-US" sz="2500" dirty="0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mạnh</a:t>
            </a:r>
            <a:r>
              <a:rPr lang="en-US" sz="2500" dirty="0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an </a:t>
            </a:r>
            <a:r>
              <a:rPr lang="en-US" sz="2500" dirty="0" err="1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toàn</a:t>
            </a:r>
            <a:endParaRPr lang="en-US" sz="2500" dirty="0">
              <a:solidFill>
                <a:srgbClr val="F6C85F"/>
              </a:solidFill>
              <a:latin typeface="Times New Roman" panose="02020603050405020304" pitchFamily="18" charset="0"/>
              <a:ea typeface="Be Vietnam" panose="00000500000000000000"/>
              <a:cs typeface="Times New Roman" panose="02020603050405020304" pitchFamily="18" charset="0"/>
              <a:sym typeface="Be Vietnam" panose="00000500000000000000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1200150" y="8410575"/>
            <a:ext cx="4648200" cy="296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0"/>
              </a:lnSpc>
            </a:pPr>
            <a:r>
              <a:rPr lang="en-US" sz="25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Miễn</a:t>
            </a:r>
            <a:r>
              <a:rPr lang="en-US" sz="2500" b="1" dirty="0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phí</a:t>
            </a:r>
            <a:endParaRPr lang="en-US" sz="2500" b="1" dirty="0">
              <a:solidFill>
                <a:srgbClr val="FFFFFF"/>
              </a:solidFill>
              <a:latin typeface="Times New Roman" panose="02020603050405020304" pitchFamily="18" charset="0"/>
              <a:ea typeface="Be Vietnam Ultra-Bold" panose="00000900000000000000"/>
              <a:cs typeface="Times New Roman" panose="02020603050405020304" pitchFamily="18" charset="0"/>
              <a:sym typeface="Be Vietnam Ultra-Bold" panose="00000900000000000000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6343650" y="8470345"/>
            <a:ext cx="3124200" cy="28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25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Có</a:t>
            </a:r>
            <a:r>
              <a:rPr lang="en-US" sz="25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hạn</a:t>
            </a:r>
            <a:r>
              <a:rPr lang="en-US" sz="25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mức</a:t>
            </a:r>
            <a:endParaRPr lang="en-US" sz="2500" dirty="0">
              <a:solidFill>
                <a:srgbClr val="4CC9F0"/>
              </a:solidFill>
              <a:latin typeface="Times New Roman" panose="02020603050405020304" pitchFamily="18" charset="0"/>
              <a:ea typeface="Be Vietnam" panose="00000500000000000000"/>
              <a:cs typeface="Times New Roman" panose="02020603050405020304" pitchFamily="18" charset="0"/>
              <a:sym typeface="Be Vietnam" panose="00000500000000000000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9928737" y="8457702"/>
            <a:ext cx="3124200" cy="28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2500" dirty="0" err="1">
                <a:solidFill>
                  <a:srgbClr val="5EE1B7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Có</a:t>
            </a:r>
            <a:r>
              <a:rPr lang="en-US" sz="2500" dirty="0">
                <a:solidFill>
                  <a:srgbClr val="5EE1B7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5EE1B7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hạn</a:t>
            </a:r>
            <a:r>
              <a:rPr lang="en-US" sz="2500" dirty="0">
                <a:solidFill>
                  <a:srgbClr val="5EE1B7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5EE1B7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mức</a:t>
            </a:r>
            <a:endParaRPr lang="en-US" sz="2500" dirty="0">
              <a:solidFill>
                <a:srgbClr val="5EE1B7"/>
              </a:solidFill>
              <a:latin typeface="Times New Roman" panose="02020603050405020304" pitchFamily="18" charset="0"/>
              <a:ea typeface="Be Vietnam" panose="00000500000000000000"/>
              <a:cs typeface="Times New Roman" panose="02020603050405020304" pitchFamily="18" charset="0"/>
              <a:sym typeface="Be Vietnam" panose="00000500000000000000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13544550" y="8505327"/>
            <a:ext cx="3505200" cy="28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sz="2500" dirty="0" err="1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Có</a:t>
            </a:r>
            <a:r>
              <a:rPr lang="en-US" sz="2500" dirty="0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hạn</a:t>
            </a:r>
            <a:r>
              <a:rPr lang="en-US" sz="2500" dirty="0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F6C85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mức</a:t>
            </a:r>
            <a:endParaRPr lang="en-US" sz="2500" dirty="0">
              <a:solidFill>
                <a:srgbClr val="F6C85F"/>
              </a:solidFill>
              <a:latin typeface="Times New Roman" panose="02020603050405020304" pitchFamily="18" charset="0"/>
              <a:ea typeface="Be Vietnam" panose="00000500000000000000"/>
              <a:cs typeface="Times New Roman" panose="02020603050405020304" pitchFamily="18" charset="0"/>
              <a:sym typeface="Be Vietnam" panose="00000500000000000000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1619250" y="9372600"/>
            <a:ext cx="15049500" cy="239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5"/>
              </a:lnSpc>
            </a:pPr>
            <a:r>
              <a:rPr lang="en-US" sz="15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Không</a:t>
            </a:r>
            <a:r>
              <a:rPr lang="en-US" sz="15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so </a:t>
            </a:r>
            <a:r>
              <a:rPr lang="en-US" sz="15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sánh</a:t>
            </a:r>
            <a:r>
              <a:rPr lang="en-US" sz="15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5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chỉ</a:t>
            </a:r>
            <a:r>
              <a:rPr lang="en-US" sz="15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5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bằng</a:t>
            </a:r>
            <a:r>
              <a:rPr lang="en-US" sz="15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con </a:t>
            </a:r>
            <a:r>
              <a:rPr lang="en-US" sz="15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số</a:t>
            </a:r>
            <a:r>
              <a:rPr lang="en-US" sz="15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token: </a:t>
            </a:r>
            <a:r>
              <a:rPr lang="en-US" sz="15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khả</a:t>
            </a:r>
            <a:r>
              <a:rPr lang="en-US" sz="15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5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năng</a:t>
            </a:r>
            <a:r>
              <a:rPr lang="en-US" sz="15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5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truy</a:t>
            </a:r>
            <a:r>
              <a:rPr lang="en-US" sz="15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5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hồi</a:t>
            </a:r>
            <a:r>
              <a:rPr lang="en-US" sz="15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, </a:t>
            </a:r>
            <a:r>
              <a:rPr lang="en-US" sz="15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chất</a:t>
            </a:r>
            <a:r>
              <a:rPr lang="en-US" sz="15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5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lượng</a:t>
            </a:r>
            <a:r>
              <a:rPr lang="en-US" sz="15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5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đầu</a:t>
            </a:r>
            <a:r>
              <a:rPr lang="en-US" sz="15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5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ra</a:t>
            </a:r>
            <a:r>
              <a:rPr lang="en-US" sz="15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5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và</a:t>
            </a:r>
            <a:r>
              <a:rPr lang="en-US" sz="15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5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giới</a:t>
            </a:r>
            <a:r>
              <a:rPr lang="en-US" sz="15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5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hạn</a:t>
            </a:r>
            <a:r>
              <a:rPr lang="en-US" sz="15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5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thực</a:t>
            </a:r>
            <a:r>
              <a:rPr lang="en-US" sz="15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5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tế</a:t>
            </a:r>
            <a:r>
              <a:rPr lang="en-US" sz="15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5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cũng</a:t>
            </a:r>
            <a:r>
              <a:rPr lang="en-US" sz="15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5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quan</a:t>
            </a:r>
            <a:r>
              <a:rPr lang="en-US" sz="15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5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trọng</a:t>
            </a:r>
            <a:r>
              <a:rPr lang="en-US" sz="15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85800"/>
            <a:ext cx="16059150" cy="632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45"/>
              </a:lnSpc>
            </a:pPr>
            <a:r>
              <a:rPr lang="en-US" sz="60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Ngôn</a:t>
            </a:r>
            <a:r>
              <a:rPr lang="en-US" sz="60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60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ngữ</a:t>
            </a:r>
            <a:r>
              <a:rPr lang="en-US" sz="60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60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và</a:t>
            </a:r>
            <a:r>
              <a:rPr lang="en-US" sz="60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60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tóm</a:t>
            </a:r>
            <a:r>
              <a:rPr lang="en-US" sz="60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60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tắt</a:t>
            </a:r>
            <a:r>
              <a:rPr lang="en-US" sz="60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: </a:t>
            </a:r>
            <a:r>
              <a:rPr lang="en-US" sz="60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ba</a:t>
            </a:r>
            <a:r>
              <a:rPr lang="en-US" sz="60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“</a:t>
            </a:r>
            <a:r>
              <a:rPr lang="en-US" sz="60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chất</a:t>
            </a:r>
            <a:r>
              <a:rPr lang="en-US" sz="60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60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giọng</a:t>
            </a:r>
            <a:r>
              <a:rPr lang="en-US" sz="60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” </a:t>
            </a:r>
            <a:r>
              <a:rPr lang="en-US" sz="60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khác</a:t>
            </a:r>
            <a:r>
              <a:rPr lang="en-US" sz="60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60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nhau</a:t>
            </a:r>
            <a:endParaRPr lang="en-US" sz="6000" b="1" dirty="0">
              <a:solidFill>
                <a:srgbClr val="172033"/>
              </a:solidFill>
              <a:latin typeface="Times New Roman" panose="02020603050405020304" pitchFamily="18" charset="0"/>
              <a:ea typeface="Bricolage Grotesque Bold" panose="020B0605040402000204"/>
              <a:cs typeface="Times New Roman" panose="02020603050405020304" pitchFamily="18" charset="0"/>
              <a:sym typeface="Bricolage Grotesque Bold" panose="020B06050404020002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14400" y="1381125"/>
            <a:ext cx="14382750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Kết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luận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nên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được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kiểm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thử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trên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cùng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tập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văn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bản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,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độ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dài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và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tiêu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chí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chấm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2667000"/>
            <a:ext cx="4953000" cy="4953000"/>
            <a:chOff x="0" y="0"/>
            <a:chExt cx="6604000" cy="66040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6604000" cy="6604000"/>
              <a:chOff x="0" y="0"/>
              <a:chExt cx="6604000" cy="6604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604000" cy="6604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6604000" cy="664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355600" y="368300"/>
              <a:ext cx="5892800" cy="4264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70"/>
                </a:lnSpc>
              </a:pPr>
              <a:r>
                <a:rPr lang="en-US" sz="3000" b="1" dirty="0">
                  <a:solidFill>
                    <a:srgbClr val="4CC9F0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ChatGPT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5600" y="1012825"/>
              <a:ext cx="5892800" cy="3590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Linh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hoạt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khi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viết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lại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,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giải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thích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và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đổi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giọng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.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Dễ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điều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khiển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bằng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prompt;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đôi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khi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dài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dòng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hoặc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tự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tin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khi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sai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.</a:t>
              </a:r>
            </a:p>
            <a:p>
              <a:pPr algn="l"/>
              <a:endParaRPr lang="en-US" sz="25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endParaRPr>
            </a:p>
            <a:p>
              <a:pPr algn="l"/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Phù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hợp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: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bản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nháp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,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biên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tập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, refactor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nội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dung.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67500" y="2667000"/>
            <a:ext cx="4953000" cy="4953000"/>
            <a:chOff x="0" y="0"/>
            <a:chExt cx="6604000" cy="660400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6604000" cy="6604000"/>
              <a:chOff x="0" y="0"/>
              <a:chExt cx="6604000" cy="6604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604000" cy="6604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6604000" cy="664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355600" y="368300"/>
              <a:ext cx="5892800" cy="4264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70"/>
                </a:lnSpc>
              </a:pPr>
              <a:r>
                <a:rPr lang="en-US" sz="3000" b="1" dirty="0">
                  <a:solidFill>
                    <a:srgbClr val="5EE1B7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Gemini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5600" y="1012825"/>
              <a:ext cx="5892800" cy="3590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Thuận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lợi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trong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hệ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Google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và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tác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vụ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đa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phương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thức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.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Chất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lượng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phụ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thuộc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model,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quyền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truy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cập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và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ngữ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cảnh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.</a:t>
              </a:r>
            </a:p>
            <a:p>
              <a:pPr algn="l"/>
              <a:endParaRPr lang="en-US" sz="25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endParaRPr>
            </a:p>
            <a:p>
              <a:pPr algn="l"/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Phù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hợp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: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tài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liệu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gắn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Workspace, media.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287250" y="2667000"/>
            <a:ext cx="4953000" cy="4953000"/>
            <a:chOff x="0" y="0"/>
            <a:chExt cx="6604000" cy="66040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6604000" cy="6604000"/>
              <a:chOff x="0" y="0"/>
              <a:chExt cx="6604000" cy="6604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604000" cy="6604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6604000" cy="664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355600" y="368300"/>
              <a:ext cx="5892800" cy="4264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70"/>
                </a:lnSpc>
              </a:pPr>
              <a:r>
                <a:rPr lang="en-US" sz="3000" b="1" dirty="0">
                  <a:solidFill>
                    <a:srgbClr val="FF6B6B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Claude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5600" y="1012825"/>
              <a:ext cx="5892800" cy="3590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Nổi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bật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với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văn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bản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dài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,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phân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tích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tài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liệu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và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giọng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thận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trọng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.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Có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thể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hạn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chế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hơn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ở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một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số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tính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năng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/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khu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vực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.</a:t>
              </a:r>
            </a:p>
            <a:p>
              <a:pPr algn="l"/>
              <a:endParaRPr lang="en-US" sz="25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endParaRPr>
            </a:p>
            <a:p>
              <a:pPr algn="l"/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Phù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hợp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: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đọc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sâu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,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tổng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hợp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có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cấu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trúc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.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905000" y="8543925"/>
            <a:ext cx="14478000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0"/>
              </a:lnSpc>
            </a:pPr>
            <a:r>
              <a:rPr lang="en-US" sz="1875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Nguồn</a:t>
            </a:r>
            <a:r>
              <a:rPr lang="en-US" sz="1875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người</a:t>
            </a:r>
            <a:r>
              <a:rPr lang="en-US" sz="1875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dùng</a:t>
            </a:r>
            <a:r>
              <a:rPr lang="en-US" sz="1875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= </a:t>
            </a:r>
            <a:r>
              <a:rPr lang="en-US" sz="1875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bằng</a:t>
            </a:r>
            <a:r>
              <a:rPr lang="en-US" sz="1875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chứng</a:t>
            </a:r>
            <a:r>
              <a:rPr lang="en-US" sz="1875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trải</a:t>
            </a:r>
            <a:r>
              <a:rPr lang="en-US" sz="1875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nghiệm</a:t>
            </a:r>
            <a:r>
              <a:rPr lang="en-US" sz="1875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, </a:t>
            </a:r>
            <a:r>
              <a:rPr lang="en-US" sz="1875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không</a:t>
            </a:r>
            <a:r>
              <a:rPr lang="en-US" sz="1875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phải</a:t>
            </a:r>
            <a:r>
              <a:rPr lang="en-US" sz="1875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chuẩn</a:t>
            </a:r>
            <a:r>
              <a:rPr lang="en-US" sz="1875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tuyệt</a:t>
            </a:r>
            <a:r>
              <a:rPr lang="en-US" sz="1875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đối</a:t>
            </a:r>
            <a:r>
              <a:rPr lang="en-US" sz="1875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. </a:t>
            </a:r>
            <a:r>
              <a:rPr lang="en-US" sz="1875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Cần</a:t>
            </a:r>
            <a:r>
              <a:rPr lang="en-US" sz="1875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ghi</a:t>
            </a:r>
            <a:r>
              <a:rPr lang="en-US" sz="1875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model, </a:t>
            </a:r>
            <a:r>
              <a:rPr lang="en-US" sz="1875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ngày</a:t>
            </a:r>
            <a:r>
              <a:rPr lang="en-US" sz="1875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thử</a:t>
            </a:r>
            <a:r>
              <a:rPr lang="en-US" sz="1875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, prompt </a:t>
            </a:r>
            <a:r>
              <a:rPr lang="en-US" sz="1875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và</a:t>
            </a:r>
            <a:r>
              <a:rPr lang="en-US" sz="1875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tiêu</a:t>
            </a:r>
            <a:r>
              <a:rPr lang="en-US" sz="1875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chí</a:t>
            </a:r>
            <a:r>
              <a:rPr lang="en-US" sz="1875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chấm</a:t>
            </a:r>
            <a:r>
              <a:rPr lang="en-US" sz="1875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4568" y="191533"/>
            <a:ext cx="16459200" cy="15081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9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Lập</a:t>
            </a:r>
            <a:r>
              <a:rPr lang="en-US" sz="49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49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trình</a:t>
            </a:r>
            <a:r>
              <a:rPr lang="en-US" sz="49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49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và</a:t>
            </a:r>
            <a:r>
              <a:rPr lang="en-US" sz="49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49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suy</a:t>
            </a:r>
            <a:r>
              <a:rPr lang="en-US" sz="49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49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luận</a:t>
            </a:r>
            <a:r>
              <a:rPr lang="en-US" sz="49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: </a:t>
            </a:r>
            <a:r>
              <a:rPr lang="en-US" sz="49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đánh</a:t>
            </a:r>
            <a:r>
              <a:rPr lang="en-US" sz="49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49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giá</a:t>
            </a:r>
            <a:r>
              <a:rPr lang="en-US" sz="49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49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bằng</a:t>
            </a:r>
            <a:r>
              <a:rPr lang="en-US" sz="49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49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quy</a:t>
            </a:r>
            <a:r>
              <a:rPr lang="en-US" sz="49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49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trình</a:t>
            </a:r>
            <a:r>
              <a:rPr lang="en-US" sz="49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, </a:t>
            </a:r>
            <a:r>
              <a:rPr lang="en-US" sz="49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không</a:t>
            </a:r>
            <a:r>
              <a:rPr lang="en-US" sz="49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49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bằng</a:t>
            </a:r>
            <a:r>
              <a:rPr lang="en-US" sz="49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49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ấn</a:t>
            </a:r>
            <a:r>
              <a:rPr lang="en-US" sz="49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49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tượng</a:t>
            </a:r>
            <a:endParaRPr lang="en-US" sz="4900" b="1" dirty="0">
              <a:solidFill>
                <a:srgbClr val="FFFFFF"/>
              </a:solidFill>
              <a:latin typeface="Times New Roman" panose="02020603050405020304" pitchFamily="18" charset="0"/>
              <a:ea typeface="Bricolage Grotesque Bold" panose="020B0605040402000204"/>
              <a:cs typeface="Times New Roman" panose="02020603050405020304" pitchFamily="18" charset="0"/>
              <a:sym typeface="Bricolage Grotesque Bold" panose="020B06050404020002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04568" y="1863182"/>
            <a:ext cx="14382750" cy="30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20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Cùng</a:t>
            </a:r>
            <a:r>
              <a:rPr lang="en-US" sz="20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0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đề</a:t>
            </a:r>
            <a:r>
              <a:rPr lang="en-US" sz="20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0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bài</a:t>
            </a:r>
            <a:r>
              <a:rPr lang="en-US" sz="20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0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0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0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cùng</a:t>
            </a:r>
            <a:r>
              <a:rPr lang="en-US" sz="20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test </a:t>
            </a:r>
            <a:r>
              <a:rPr lang="en-US" sz="20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0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0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cùng</a:t>
            </a:r>
            <a:r>
              <a:rPr lang="en-US" sz="20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0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môi</a:t>
            </a:r>
            <a:r>
              <a:rPr lang="en-US" sz="20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0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trường</a:t>
            </a:r>
            <a:r>
              <a:rPr lang="en-US" sz="20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0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0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so </a:t>
            </a:r>
            <a:r>
              <a:rPr lang="en-US" sz="20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lỗi</a:t>
            </a:r>
            <a:r>
              <a:rPr lang="en-US" sz="20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, </a:t>
            </a:r>
            <a:r>
              <a:rPr lang="en-US" sz="20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giải</a:t>
            </a:r>
            <a:r>
              <a:rPr lang="en-US" sz="20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0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thích</a:t>
            </a:r>
            <a:r>
              <a:rPr lang="en-US" sz="20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0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và</a:t>
            </a:r>
            <a:r>
              <a:rPr lang="en-US" sz="20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0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khả</a:t>
            </a:r>
            <a:r>
              <a:rPr lang="en-US" sz="20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0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năng</a:t>
            </a:r>
            <a:r>
              <a:rPr lang="en-US" sz="20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000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sửa</a:t>
            </a:r>
            <a:r>
              <a:rPr lang="en-US" sz="2000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00125" y="3143250"/>
            <a:ext cx="2762250" cy="952500"/>
            <a:chOff x="0" y="0"/>
            <a:chExt cx="3683000" cy="127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83000" cy="1270000"/>
            </a:xfrm>
            <a:custGeom>
              <a:avLst/>
              <a:gdLst/>
              <a:ahLst/>
              <a:cxnLst/>
              <a:rect l="l" t="t" r="r" b="b"/>
              <a:pathLst>
                <a:path w="3683000" h="1270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191172"/>
                  </a:lnTo>
                  <a:cubicBezTo>
                    <a:pt x="3683000" y="1212079"/>
                    <a:pt x="3674695" y="1232129"/>
                    <a:pt x="3659912" y="1246912"/>
                  </a:cubicBezTo>
                  <a:cubicBezTo>
                    <a:pt x="3645129" y="1261695"/>
                    <a:pt x="3625079" y="1270000"/>
                    <a:pt x="3604172" y="1270000"/>
                  </a:cubicBezTo>
                  <a:lnTo>
                    <a:pt x="78828" y="1270000"/>
                  </a:lnTo>
                  <a:cubicBezTo>
                    <a:pt x="57921" y="1270000"/>
                    <a:pt x="37871" y="1261695"/>
                    <a:pt x="23088" y="1246912"/>
                  </a:cubicBezTo>
                  <a:cubicBezTo>
                    <a:pt x="8305" y="1232129"/>
                    <a:pt x="0" y="1212079"/>
                    <a:pt x="0" y="1191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FF6B6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683000" cy="1317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5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01  ĐẶC TẢ</a:t>
              </a:r>
            </a:p>
          </p:txBody>
        </p:sp>
      </p:grpSp>
      <p:sp>
        <p:nvSpPr>
          <p:cNvPr id="7" name="AutoShape 7"/>
          <p:cNvSpPr/>
          <p:nvPr/>
        </p:nvSpPr>
        <p:spPr>
          <a:xfrm>
            <a:off x="3762375" y="3619500"/>
            <a:ext cx="571500" cy="0"/>
          </a:xfrm>
          <a:prstGeom prst="line">
            <a:avLst/>
          </a:prstGeom>
          <a:ln w="47625" cap="rnd">
            <a:solidFill>
              <a:srgbClr val="4CC9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4333875" y="3143250"/>
            <a:ext cx="2762250" cy="952500"/>
            <a:chOff x="0" y="0"/>
            <a:chExt cx="3683000" cy="127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83000" cy="1270000"/>
            </a:xfrm>
            <a:custGeom>
              <a:avLst/>
              <a:gdLst/>
              <a:ahLst/>
              <a:cxnLst/>
              <a:rect l="l" t="t" r="r" b="b"/>
              <a:pathLst>
                <a:path w="3683000" h="1270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191172"/>
                  </a:lnTo>
                  <a:cubicBezTo>
                    <a:pt x="3683000" y="1212079"/>
                    <a:pt x="3674695" y="1232129"/>
                    <a:pt x="3659912" y="1246912"/>
                  </a:cubicBezTo>
                  <a:cubicBezTo>
                    <a:pt x="3645129" y="1261695"/>
                    <a:pt x="3625079" y="1270000"/>
                    <a:pt x="3604172" y="1270000"/>
                  </a:cubicBezTo>
                  <a:lnTo>
                    <a:pt x="78828" y="1270000"/>
                  </a:lnTo>
                  <a:cubicBezTo>
                    <a:pt x="57921" y="1270000"/>
                    <a:pt x="37871" y="1261695"/>
                    <a:pt x="23088" y="1246912"/>
                  </a:cubicBezTo>
                  <a:cubicBezTo>
                    <a:pt x="8305" y="1232129"/>
                    <a:pt x="0" y="1212079"/>
                    <a:pt x="0" y="1191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23345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3683000" cy="1317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5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02  SINH MÃ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7096125" y="3619500"/>
            <a:ext cx="571500" cy="0"/>
          </a:xfrm>
          <a:prstGeom prst="line">
            <a:avLst/>
          </a:prstGeom>
          <a:ln w="47625" cap="rnd">
            <a:solidFill>
              <a:srgbClr val="4CC9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7667625" y="3143250"/>
            <a:ext cx="2762250" cy="952500"/>
            <a:chOff x="0" y="0"/>
            <a:chExt cx="3683000" cy="127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683000" cy="1270000"/>
            </a:xfrm>
            <a:custGeom>
              <a:avLst/>
              <a:gdLst/>
              <a:ahLst/>
              <a:cxnLst/>
              <a:rect l="l" t="t" r="r" b="b"/>
              <a:pathLst>
                <a:path w="3683000" h="1270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191172"/>
                  </a:lnTo>
                  <a:cubicBezTo>
                    <a:pt x="3683000" y="1212079"/>
                    <a:pt x="3674695" y="1232129"/>
                    <a:pt x="3659912" y="1246912"/>
                  </a:cubicBezTo>
                  <a:cubicBezTo>
                    <a:pt x="3645129" y="1261695"/>
                    <a:pt x="3625079" y="1270000"/>
                    <a:pt x="3604172" y="1270000"/>
                  </a:cubicBezTo>
                  <a:lnTo>
                    <a:pt x="78828" y="1270000"/>
                  </a:lnTo>
                  <a:cubicBezTo>
                    <a:pt x="57921" y="1270000"/>
                    <a:pt x="37871" y="1261695"/>
                    <a:pt x="23088" y="1246912"/>
                  </a:cubicBezTo>
                  <a:cubicBezTo>
                    <a:pt x="8305" y="1232129"/>
                    <a:pt x="0" y="1212079"/>
                    <a:pt x="0" y="1191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23345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3683000" cy="1317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5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03  CHẠY TEST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10429875" y="3619500"/>
            <a:ext cx="571500" cy="0"/>
          </a:xfrm>
          <a:prstGeom prst="line">
            <a:avLst/>
          </a:prstGeom>
          <a:ln w="47625" cap="rnd">
            <a:solidFill>
              <a:srgbClr val="4CC9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11001375" y="3143250"/>
            <a:ext cx="2762250" cy="952500"/>
            <a:chOff x="0" y="0"/>
            <a:chExt cx="3683000" cy="127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83000" cy="1270000"/>
            </a:xfrm>
            <a:custGeom>
              <a:avLst/>
              <a:gdLst/>
              <a:ahLst/>
              <a:cxnLst/>
              <a:rect l="l" t="t" r="r" b="b"/>
              <a:pathLst>
                <a:path w="3683000" h="1270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191172"/>
                  </a:lnTo>
                  <a:cubicBezTo>
                    <a:pt x="3683000" y="1212079"/>
                    <a:pt x="3674695" y="1232129"/>
                    <a:pt x="3659912" y="1246912"/>
                  </a:cubicBezTo>
                  <a:cubicBezTo>
                    <a:pt x="3645129" y="1261695"/>
                    <a:pt x="3625079" y="1270000"/>
                    <a:pt x="3604172" y="1270000"/>
                  </a:cubicBezTo>
                  <a:lnTo>
                    <a:pt x="78828" y="1270000"/>
                  </a:lnTo>
                  <a:cubicBezTo>
                    <a:pt x="57921" y="1270000"/>
                    <a:pt x="37871" y="1261695"/>
                    <a:pt x="23088" y="1246912"/>
                  </a:cubicBezTo>
                  <a:cubicBezTo>
                    <a:pt x="8305" y="1232129"/>
                    <a:pt x="0" y="1212079"/>
                    <a:pt x="0" y="1191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23345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3683000" cy="1317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5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04  PHẢN BIỆN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13763625" y="3619500"/>
            <a:ext cx="571500" cy="0"/>
          </a:xfrm>
          <a:prstGeom prst="line">
            <a:avLst/>
          </a:prstGeom>
          <a:ln w="47625" cap="rnd">
            <a:solidFill>
              <a:srgbClr val="4CC9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4335125" y="3143250"/>
            <a:ext cx="2762250" cy="952500"/>
            <a:chOff x="0" y="0"/>
            <a:chExt cx="3683000" cy="1270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683000" cy="1270000"/>
            </a:xfrm>
            <a:custGeom>
              <a:avLst/>
              <a:gdLst/>
              <a:ahLst/>
              <a:cxnLst/>
              <a:rect l="l" t="t" r="r" b="b"/>
              <a:pathLst>
                <a:path w="3683000" h="1270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191172"/>
                  </a:lnTo>
                  <a:cubicBezTo>
                    <a:pt x="3683000" y="1212079"/>
                    <a:pt x="3674695" y="1232129"/>
                    <a:pt x="3659912" y="1246912"/>
                  </a:cubicBezTo>
                  <a:cubicBezTo>
                    <a:pt x="3645129" y="1261695"/>
                    <a:pt x="3625079" y="1270000"/>
                    <a:pt x="3604172" y="1270000"/>
                  </a:cubicBezTo>
                  <a:lnTo>
                    <a:pt x="78828" y="1270000"/>
                  </a:lnTo>
                  <a:cubicBezTo>
                    <a:pt x="57921" y="1270000"/>
                    <a:pt x="37871" y="1261695"/>
                    <a:pt x="23088" y="1246912"/>
                  </a:cubicBezTo>
                  <a:cubicBezTo>
                    <a:pt x="8305" y="1232129"/>
                    <a:pt x="0" y="1212079"/>
                    <a:pt x="0" y="1191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5EE1B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3683000" cy="1317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5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05  SỬA LỖI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28750" y="5429250"/>
            <a:ext cx="4762500" cy="2667000"/>
            <a:chOff x="0" y="0"/>
            <a:chExt cx="6350000" cy="355600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6350000" cy="3556000"/>
              <a:chOff x="0" y="0"/>
              <a:chExt cx="6350000" cy="3556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350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3556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16213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6350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355600" y="368300"/>
              <a:ext cx="5638800" cy="4264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70"/>
                </a:lnSpc>
              </a:pPr>
              <a:r>
                <a:rPr lang="en-US" sz="2500" b="1" dirty="0">
                  <a:solidFill>
                    <a:srgbClr val="4CC9F0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ChatGPT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5600" y="1012825"/>
              <a:ext cx="5638800" cy="8207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Giải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thích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tốt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,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hệ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API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rộng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;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cần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chạy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test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để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phát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hiện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thư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viện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/API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bịa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62750" y="5429250"/>
            <a:ext cx="4762500" cy="2667000"/>
            <a:chOff x="0" y="0"/>
            <a:chExt cx="6350000" cy="3556000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6350000" cy="3556000"/>
              <a:chOff x="0" y="0"/>
              <a:chExt cx="6350000" cy="35560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6350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3556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16213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6350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355600" y="368300"/>
              <a:ext cx="5638800" cy="4264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70"/>
                </a:lnSpc>
              </a:pPr>
              <a:r>
                <a:rPr lang="en-US" sz="2500" b="1" dirty="0">
                  <a:solidFill>
                    <a:srgbClr val="5EE1B7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Gemini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5600" y="1012825"/>
              <a:ext cx="5638800" cy="12311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Hữu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ích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với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hệ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Google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và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đầu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vào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đa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phương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thức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;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kết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quả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phụ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thuộc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model.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096750" y="5429250"/>
            <a:ext cx="4762500" cy="2667000"/>
            <a:chOff x="0" y="0"/>
            <a:chExt cx="6350000" cy="3556000"/>
          </a:xfrm>
        </p:grpSpPr>
        <p:grpSp>
          <p:nvGrpSpPr>
            <p:cNvPr id="36" name="Group 36"/>
            <p:cNvGrpSpPr/>
            <p:nvPr/>
          </p:nvGrpSpPr>
          <p:grpSpPr>
            <a:xfrm>
              <a:off x="0" y="0"/>
              <a:ext cx="6350000" cy="3556000"/>
              <a:chOff x="0" y="0"/>
              <a:chExt cx="6350000" cy="35560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6350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3556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16213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6350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  <a:endParaRPr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355600" y="368300"/>
              <a:ext cx="5638800" cy="4264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70"/>
                </a:lnSpc>
              </a:pPr>
              <a:r>
                <a:rPr lang="en-US" sz="2500" b="1" dirty="0">
                  <a:solidFill>
                    <a:srgbClr val="FF6B6B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Claude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5600" y="1012825"/>
              <a:ext cx="5638800" cy="12311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Phân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tích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code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cẩn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trọng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,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phù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hợp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codebase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dài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;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công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cụ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và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hạn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mức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thay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2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đổi</a:t>
              </a:r>
              <a:r>
                <a:rPr lang="en-US" sz="22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85800"/>
            <a:ext cx="14287500" cy="626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5"/>
              </a:lnSpc>
            </a:pPr>
            <a:r>
              <a:rPr lang="en-US" sz="58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Đa</a:t>
            </a:r>
            <a:r>
              <a:rPr lang="en-US" sz="58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8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phương</a:t>
            </a:r>
            <a:r>
              <a:rPr lang="en-US" sz="58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8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thức</a:t>
            </a:r>
            <a:r>
              <a:rPr lang="en-US" sz="58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, </a:t>
            </a:r>
            <a:r>
              <a:rPr lang="en-US" sz="58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tìm</a:t>
            </a:r>
            <a:r>
              <a:rPr lang="en-US" sz="58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8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kiếm</a:t>
            </a:r>
            <a:r>
              <a:rPr lang="en-US" sz="58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8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và</a:t>
            </a:r>
            <a:r>
              <a:rPr lang="en-US" sz="58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8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xử</a:t>
            </a:r>
            <a:r>
              <a:rPr lang="en-US" sz="58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8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lý</a:t>
            </a:r>
            <a:r>
              <a:rPr lang="en-US" sz="58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8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tệp</a:t>
            </a:r>
            <a:endParaRPr lang="en-US" sz="5800" b="1" dirty="0">
              <a:solidFill>
                <a:srgbClr val="172033"/>
              </a:solidFill>
              <a:latin typeface="Times New Roman" panose="02020603050405020304" pitchFamily="18" charset="0"/>
              <a:ea typeface="Bricolage Grotesque Bold" panose="020B0605040402000204"/>
              <a:cs typeface="Times New Roman" panose="02020603050405020304" pitchFamily="18" charset="0"/>
              <a:sym typeface="Bricolage Grotesque Bold" panose="020B06050404020002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14400" y="1381125"/>
            <a:ext cx="14382750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Khác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biệt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quan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trọng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nằm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ở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nguồn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dữ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liệu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,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quyền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truy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cập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và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khả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năng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dẫn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chứng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2714625"/>
            <a:ext cx="3429000" cy="1143000"/>
            <a:chOff x="0" y="0"/>
            <a:chExt cx="4572000" cy="152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72000" cy="1524000"/>
            </a:xfrm>
            <a:custGeom>
              <a:avLst/>
              <a:gdLst/>
              <a:ahLst/>
              <a:cxnLst/>
              <a:rect l="l" t="t" r="r" b="b"/>
              <a:pathLst>
                <a:path w="4572000" h="1524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1460500"/>
                  </a:lnTo>
                  <a:cubicBezTo>
                    <a:pt x="4572000" y="1495570"/>
                    <a:pt x="4543570" y="1524000"/>
                    <a:pt x="4508500" y="1524000"/>
                  </a:cubicBezTo>
                  <a:lnTo>
                    <a:pt x="63500" y="1524000"/>
                  </a:lnTo>
                  <a:cubicBezTo>
                    <a:pt x="28430" y="1524000"/>
                    <a:pt x="0" y="1495570"/>
                    <a:pt x="0" y="1460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6B6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572000" cy="1571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500" b="1" dirty="0">
                  <a:solidFill>
                    <a:srgbClr val="0B132B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HÌNH ẢNH / MEDIA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238750" y="2714625"/>
            <a:ext cx="3333750" cy="1143000"/>
            <a:chOff x="0" y="0"/>
            <a:chExt cx="4445000" cy="152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45000" cy="1524000"/>
            </a:xfrm>
            <a:custGeom>
              <a:avLst/>
              <a:gdLst/>
              <a:ahLst/>
              <a:cxnLst/>
              <a:rect l="l" t="t" r="r" b="b"/>
              <a:pathLst>
                <a:path w="4445000" h="1524000">
                  <a:moveTo>
                    <a:pt x="0" y="0"/>
                  </a:moveTo>
                  <a:lnTo>
                    <a:pt x="4445000" y="0"/>
                  </a:lnTo>
                  <a:lnTo>
                    <a:pt x="4445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445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0" y="2714625"/>
            <a:ext cx="3333750" cy="1143000"/>
            <a:chOff x="0" y="0"/>
            <a:chExt cx="4445000" cy="1524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45000" cy="1524000"/>
            </a:xfrm>
            <a:custGeom>
              <a:avLst/>
              <a:gdLst/>
              <a:ahLst/>
              <a:cxnLst/>
              <a:rect l="l" t="t" r="r" b="b"/>
              <a:pathLst>
                <a:path w="4445000" h="1524000">
                  <a:moveTo>
                    <a:pt x="0" y="0"/>
                  </a:moveTo>
                  <a:lnTo>
                    <a:pt x="4445000" y="0"/>
                  </a:lnTo>
                  <a:lnTo>
                    <a:pt x="4445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445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049250" y="2714625"/>
            <a:ext cx="3333750" cy="1143000"/>
            <a:chOff x="0" y="0"/>
            <a:chExt cx="4445000" cy="1524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1524000"/>
            </a:xfrm>
            <a:custGeom>
              <a:avLst/>
              <a:gdLst/>
              <a:ahLst/>
              <a:cxnLst/>
              <a:rect l="l" t="t" r="r" b="b"/>
              <a:pathLst>
                <a:path w="4445000" h="1524000">
                  <a:moveTo>
                    <a:pt x="0" y="0"/>
                  </a:moveTo>
                  <a:lnTo>
                    <a:pt x="4445000" y="0"/>
                  </a:lnTo>
                  <a:lnTo>
                    <a:pt x="4445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445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47750" y="4714875"/>
            <a:ext cx="3429000" cy="1143000"/>
            <a:chOff x="0" y="0"/>
            <a:chExt cx="4572000" cy="1524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572000" cy="1524000"/>
            </a:xfrm>
            <a:custGeom>
              <a:avLst/>
              <a:gdLst/>
              <a:ahLst/>
              <a:cxnLst/>
              <a:rect l="l" t="t" r="r" b="b"/>
              <a:pathLst>
                <a:path w="4572000" h="1524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1460500"/>
                  </a:lnTo>
                  <a:cubicBezTo>
                    <a:pt x="4572000" y="1495570"/>
                    <a:pt x="4543570" y="1524000"/>
                    <a:pt x="4508500" y="1524000"/>
                  </a:cubicBezTo>
                  <a:lnTo>
                    <a:pt x="63500" y="1524000"/>
                  </a:lnTo>
                  <a:cubicBezTo>
                    <a:pt x="28430" y="1524000"/>
                    <a:pt x="0" y="1495570"/>
                    <a:pt x="0" y="1460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4CC9F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4572000" cy="1571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500" b="1" dirty="0">
                  <a:solidFill>
                    <a:srgbClr val="0B132B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TÌM KIẾM MỚI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238750" y="4714875"/>
            <a:ext cx="3333750" cy="1143000"/>
            <a:chOff x="0" y="0"/>
            <a:chExt cx="4445000" cy="1524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445000" cy="1524000"/>
            </a:xfrm>
            <a:custGeom>
              <a:avLst/>
              <a:gdLst/>
              <a:ahLst/>
              <a:cxnLst/>
              <a:rect l="l" t="t" r="r" b="b"/>
              <a:pathLst>
                <a:path w="4445000" h="1524000">
                  <a:moveTo>
                    <a:pt x="0" y="0"/>
                  </a:moveTo>
                  <a:lnTo>
                    <a:pt x="4445000" y="0"/>
                  </a:lnTo>
                  <a:lnTo>
                    <a:pt x="4445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4445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144000" y="4714875"/>
            <a:ext cx="3333750" cy="1143000"/>
            <a:chOff x="0" y="0"/>
            <a:chExt cx="4445000" cy="1524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445000" cy="1524000"/>
            </a:xfrm>
            <a:custGeom>
              <a:avLst/>
              <a:gdLst/>
              <a:ahLst/>
              <a:cxnLst/>
              <a:rect l="l" t="t" r="r" b="b"/>
              <a:pathLst>
                <a:path w="4445000" h="1524000">
                  <a:moveTo>
                    <a:pt x="0" y="0"/>
                  </a:moveTo>
                  <a:lnTo>
                    <a:pt x="4445000" y="0"/>
                  </a:lnTo>
                  <a:lnTo>
                    <a:pt x="4445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4445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049250" y="4714875"/>
            <a:ext cx="3333750" cy="1143000"/>
            <a:chOff x="0" y="0"/>
            <a:chExt cx="4445000" cy="1524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445000" cy="1524000"/>
            </a:xfrm>
            <a:custGeom>
              <a:avLst/>
              <a:gdLst/>
              <a:ahLst/>
              <a:cxnLst/>
              <a:rect l="l" t="t" r="r" b="b"/>
              <a:pathLst>
                <a:path w="4445000" h="1524000">
                  <a:moveTo>
                    <a:pt x="0" y="0"/>
                  </a:moveTo>
                  <a:lnTo>
                    <a:pt x="4445000" y="0"/>
                  </a:lnTo>
                  <a:lnTo>
                    <a:pt x="4445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4445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47750" y="6715125"/>
            <a:ext cx="3429000" cy="1143000"/>
            <a:chOff x="0" y="0"/>
            <a:chExt cx="4572000" cy="1524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572000" cy="1524000"/>
            </a:xfrm>
            <a:custGeom>
              <a:avLst/>
              <a:gdLst/>
              <a:ahLst/>
              <a:cxnLst/>
              <a:rect l="l" t="t" r="r" b="b"/>
              <a:pathLst>
                <a:path w="4572000" h="1524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1460500"/>
                  </a:lnTo>
                  <a:cubicBezTo>
                    <a:pt x="4572000" y="1495570"/>
                    <a:pt x="4543570" y="1524000"/>
                    <a:pt x="4508500" y="1524000"/>
                  </a:cubicBezTo>
                  <a:lnTo>
                    <a:pt x="63500" y="1524000"/>
                  </a:lnTo>
                  <a:cubicBezTo>
                    <a:pt x="28430" y="1524000"/>
                    <a:pt x="0" y="1495570"/>
                    <a:pt x="0" y="1460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5EE1B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5300" y="215899"/>
              <a:ext cx="3581400" cy="10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500" b="1" dirty="0">
                  <a:solidFill>
                    <a:srgbClr val="0B132B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TỆP &amp; NGỮ CẢNH DÀI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238750" y="6715125"/>
            <a:ext cx="3333750" cy="1143000"/>
            <a:chOff x="0" y="0"/>
            <a:chExt cx="4445000" cy="1524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445000" cy="1524000"/>
            </a:xfrm>
            <a:custGeom>
              <a:avLst/>
              <a:gdLst/>
              <a:ahLst/>
              <a:cxnLst/>
              <a:rect l="l" t="t" r="r" b="b"/>
              <a:pathLst>
                <a:path w="4445000" h="1524000">
                  <a:moveTo>
                    <a:pt x="0" y="0"/>
                  </a:moveTo>
                  <a:lnTo>
                    <a:pt x="4445000" y="0"/>
                  </a:lnTo>
                  <a:lnTo>
                    <a:pt x="4445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4445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144000" y="6715125"/>
            <a:ext cx="3333750" cy="1143000"/>
            <a:chOff x="0" y="0"/>
            <a:chExt cx="4445000" cy="1524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445000" cy="1524000"/>
            </a:xfrm>
            <a:custGeom>
              <a:avLst/>
              <a:gdLst/>
              <a:ahLst/>
              <a:cxnLst/>
              <a:rect l="l" t="t" r="r" b="b"/>
              <a:pathLst>
                <a:path w="4445000" h="1524000">
                  <a:moveTo>
                    <a:pt x="0" y="0"/>
                  </a:moveTo>
                  <a:lnTo>
                    <a:pt x="4445000" y="0"/>
                  </a:lnTo>
                  <a:lnTo>
                    <a:pt x="4445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4445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3049250" y="6715125"/>
            <a:ext cx="3333750" cy="1143000"/>
            <a:chOff x="0" y="0"/>
            <a:chExt cx="4445000" cy="1524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445000" cy="1524000"/>
            </a:xfrm>
            <a:custGeom>
              <a:avLst/>
              <a:gdLst/>
              <a:ahLst/>
              <a:cxnLst/>
              <a:rect l="l" t="t" r="r" b="b"/>
              <a:pathLst>
                <a:path w="4445000" h="1524000">
                  <a:moveTo>
                    <a:pt x="0" y="0"/>
                  </a:moveTo>
                  <a:lnTo>
                    <a:pt x="4445000" y="0"/>
                  </a:lnTo>
                  <a:lnTo>
                    <a:pt x="4445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4445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5399753" y="3146152"/>
            <a:ext cx="2952750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5"/>
              </a:lnSpc>
            </a:pPr>
            <a:r>
              <a:rPr lang="en-US" sz="2500" b="1" dirty="0">
                <a:solidFill>
                  <a:srgbClr val="4CC9F0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Mạnh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334500" y="3095140"/>
            <a:ext cx="2952750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5"/>
              </a:lnSpc>
            </a:pPr>
            <a:r>
              <a:rPr lang="en-US" sz="2500" b="1" dirty="0" err="1">
                <a:solidFill>
                  <a:srgbClr val="5EE1B7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Rất</a:t>
            </a:r>
            <a:r>
              <a:rPr lang="en-US" sz="2500" b="1" dirty="0">
                <a:solidFill>
                  <a:srgbClr val="5EE1B7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 </a:t>
            </a:r>
            <a:r>
              <a:rPr lang="en-US" sz="2500" b="1" dirty="0" err="1">
                <a:solidFill>
                  <a:srgbClr val="5EE1B7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mạnh</a:t>
            </a:r>
            <a:endParaRPr lang="en-US" sz="2500" b="1" dirty="0">
              <a:solidFill>
                <a:srgbClr val="5EE1B7"/>
              </a:solidFill>
              <a:latin typeface="Times New Roman" panose="02020603050405020304" pitchFamily="18" charset="0"/>
              <a:ea typeface="Be Vietnam Ultra-Bold" panose="00000900000000000000"/>
              <a:cs typeface="Times New Roman" panose="02020603050405020304" pitchFamily="18" charset="0"/>
              <a:sym typeface="Be Vietnam Ultra-Bold" panose="00000900000000000000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3239750" y="3146151"/>
            <a:ext cx="2952750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5"/>
              </a:lnSpc>
            </a:pPr>
            <a:r>
              <a:rPr lang="en-US" sz="2500" b="1" dirty="0" err="1">
                <a:solidFill>
                  <a:srgbClr val="FF6B6B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Có</a:t>
            </a:r>
            <a:r>
              <a:rPr lang="en-US" sz="2500" b="1" dirty="0">
                <a:solidFill>
                  <a:srgbClr val="FF6B6B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 </a:t>
            </a:r>
            <a:r>
              <a:rPr lang="en-US" sz="2500" b="1" dirty="0" err="1">
                <a:solidFill>
                  <a:srgbClr val="FF6B6B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hỗ</a:t>
            </a:r>
            <a:r>
              <a:rPr lang="en-US" sz="2500" b="1" dirty="0">
                <a:solidFill>
                  <a:srgbClr val="FF6B6B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 </a:t>
            </a:r>
            <a:r>
              <a:rPr lang="en-US" sz="2500" b="1" dirty="0" err="1">
                <a:solidFill>
                  <a:srgbClr val="FF6B6B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trợ</a:t>
            </a:r>
            <a:endParaRPr lang="en-US" sz="2500" b="1" dirty="0">
              <a:solidFill>
                <a:srgbClr val="FF6B6B"/>
              </a:solidFill>
              <a:latin typeface="Times New Roman" panose="02020603050405020304" pitchFamily="18" charset="0"/>
              <a:ea typeface="Be Vietnam Ultra-Bold" panose="00000900000000000000"/>
              <a:cs typeface="Times New Roman" panose="02020603050405020304" pitchFamily="18" charset="0"/>
              <a:sym typeface="Be Vietnam Ultra-Bold" panose="00000900000000000000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5421876" y="5143500"/>
            <a:ext cx="2952750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5"/>
              </a:lnSpc>
            </a:pPr>
            <a:r>
              <a:rPr lang="en-US" sz="2500" b="1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Duyệt</a:t>
            </a:r>
            <a:r>
              <a:rPr lang="en-US" sz="2500" b="1" dirty="0">
                <a:solidFill>
                  <a:srgbClr val="4CC9F0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 web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334500" y="5149120"/>
            <a:ext cx="2952750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5"/>
              </a:lnSpc>
            </a:pPr>
            <a:r>
              <a:rPr lang="en-US" sz="2500" b="1" dirty="0" err="1">
                <a:solidFill>
                  <a:srgbClr val="5EE1B7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Tìm</a:t>
            </a:r>
            <a:r>
              <a:rPr lang="en-US" sz="2500" b="1" dirty="0">
                <a:solidFill>
                  <a:srgbClr val="5EE1B7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 </a:t>
            </a:r>
            <a:r>
              <a:rPr lang="en-US" sz="2500" b="1" dirty="0" err="1">
                <a:solidFill>
                  <a:srgbClr val="5EE1B7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kiếm</a:t>
            </a:r>
            <a:r>
              <a:rPr lang="en-US" sz="2500" b="1" dirty="0">
                <a:solidFill>
                  <a:srgbClr val="5EE1B7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 / YouTube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239750" y="5143499"/>
            <a:ext cx="2952750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5"/>
              </a:lnSpc>
            </a:pPr>
            <a:r>
              <a:rPr lang="en-US" sz="2500" b="1" dirty="0">
                <a:solidFill>
                  <a:srgbClr val="FF6B6B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Tùy </a:t>
            </a:r>
            <a:r>
              <a:rPr lang="en-US" sz="2500" b="1" dirty="0" err="1">
                <a:solidFill>
                  <a:srgbClr val="FF6B6B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tính</a:t>
            </a:r>
            <a:r>
              <a:rPr lang="en-US" sz="2500" b="1" dirty="0">
                <a:solidFill>
                  <a:srgbClr val="FF6B6B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 </a:t>
            </a:r>
            <a:r>
              <a:rPr lang="en-US" sz="2500" b="1" dirty="0" err="1">
                <a:solidFill>
                  <a:srgbClr val="FF6B6B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năng</a:t>
            </a:r>
            <a:endParaRPr lang="en-US" sz="2500" b="1" dirty="0">
              <a:solidFill>
                <a:srgbClr val="FF6B6B"/>
              </a:solidFill>
              <a:latin typeface="Times New Roman" panose="02020603050405020304" pitchFamily="18" charset="0"/>
              <a:ea typeface="Be Vietnam Ultra-Bold" panose="00000900000000000000"/>
              <a:cs typeface="Times New Roman" panose="02020603050405020304" pitchFamily="18" charset="0"/>
              <a:sym typeface="Be Vietnam Ultra-Bold" panose="00000900000000000000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5429250" y="7170651"/>
            <a:ext cx="2952750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5"/>
              </a:lnSpc>
            </a:pPr>
            <a:r>
              <a:rPr lang="en-US" sz="2500" b="1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Tốt</a:t>
            </a:r>
            <a:endParaRPr lang="en-US" sz="2500" b="1" dirty="0">
              <a:solidFill>
                <a:srgbClr val="4CC9F0"/>
              </a:solidFill>
              <a:latin typeface="Times New Roman" panose="02020603050405020304" pitchFamily="18" charset="0"/>
              <a:ea typeface="Be Vietnam Ultra-Bold" panose="00000900000000000000"/>
              <a:cs typeface="Times New Roman" panose="02020603050405020304" pitchFamily="18" charset="0"/>
              <a:sym typeface="Be Vietnam Ultra-Bold" panose="00000900000000000000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9328254" y="7153118"/>
            <a:ext cx="2952750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5"/>
              </a:lnSpc>
            </a:pPr>
            <a:r>
              <a:rPr lang="en-US" sz="2500" b="1" dirty="0" err="1">
                <a:solidFill>
                  <a:srgbClr val="5EE1B7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Tốt</a:t>
            </a:r>
            <a:endParaRPr lang="en-US" sz="2500" b="1" dirty="0">
              <a:solidFill>
                <a:srgbClr val="5EE1B7"/>
              </a:solidFill>
              <a:latin typeface="Times New Roman" panose="02020603050405020304" pitchFamily="18" charset="0"/>
              <a:ea typeface="Be Vietnam Ultra-Bold" panose="00000900000000000000"/>
              <a:cs typeface="Times New Roman" panose="02020603050405020304" pitchFamily="18" charset="0"/>
              <a:sym typeface="Be Vietnam Ultra-Bold" panose="00000900000000000000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3266789" y="7113500"/>
            <a:ext cx="2952750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5"/>
              </a:lnSpc>
            </a:pPr>
            <a:r>
              <a:rPr lang="en-US" sz="2500" b="1" dirty="0" err="1">
                <a:solidFill>
                  <a:srgbClr val="FF6B6B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Rất</a:t>
            </a:r>
            <a:r>
              <a:rPr lang="en-US" sz="2500" b="1" dirty="0">
                <a:solidFill>
                  <a:srgbClr val="FF6B6B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 </a:t>
            </a:r>
            <a:r>
              <a:rPr lang="en-US" sz="2500" b="1" dirty="0" err="1">
                <a:solidFill>
                  <a:srgbClr val="FF6B6B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mạnh</a:t>
            </a:r>
            <a:r>
              <a:rPr lang="en-US" sz="2500" b="1" dirty="0">
                <a:solidFill>
                  <a:srgbClr val="FF6B6B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 </a:t>
            </a:r>
            <a:r>
              <a:rPr lang="en-US" sz="2500" b="1" dirty="0" err="1">
                <a:solidFill>
                  <a:srgbClr val="FF6B6B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văn</a:t>
            </a:r>
            <a:r>
              <a:rPr lang="en-US" sz="2500" b="1" dirty="0">
                <a:solidFill>
                  <a:srgbClr val="FF6B6B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 </a:t>
            </a:r>
            <a:r>
              <a:rPr lang="en-US" sz="2500" b="1" dirty="0" err="1">
                <a:solidFill>
                  <a:srgbClr val="FF6B6B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bản</a:t>
            </a:r>
            <a:endParaRPr lang="en-US" sz="2500" b="1" dirty="0">
              <a:solidFill>
                <a:srgbClr val="FF6B6B"/>
              </a:solidFill>
              <a:latin typeface="Times New Roman" panose="02020603050405020304" pitchFamily="18" charset="0"/>
              <a:ea typeface="Be Vietnam Ultra-Bold" panose="00000900000000000000"/>
              <a:cs typeface="Times New Roman" panose="02020603050405020304" pitchFamily="18" charset="0"/>
              <a:sym typeface="Be Vietnam Ultra-Bold" panose="00000900000000000000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5238750" y="2076450"/>
            <a:ext cx="333375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0"/>
              </a:lnSpc>
            </a:pPr>
            <a:r>
              <a:rPr lang="en-US" sz="3200" b="1" dirty="0">
                <a:solidFill>
                  <a:srgbClr val="4CC9F0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ChatGPT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144000" y="2076450"/>
            <a:ext cx="333375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0"/>
              </a:lnSpc>
            </a:pPr>
            <a:r>
              <a:rPr lang="en-US" sz="3200" b="1" dirty="0">
                <a:solidFill>
                  <a:srgbClr val="5EE1B7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Gemini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3049250" y="2076450"/>
            <a:ext cx="333375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0"/>
              </a:lnSpc>
            </a:pPr>
            <a:r>
              <a:rPr lang="en-US" sz="3200" b="1" dirty="0">
                <a:solidFill>
                  <a:srgbClr val="FF6B6B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Claude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000250" y="8829675"/>
            <a:ext cx="14287500" cy="28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Thực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hành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tốt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: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yêu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cầu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liên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kết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nguồn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,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kiểm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tra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ngày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xuất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bản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và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mở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tài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liệu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gốc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-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không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xem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câu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trả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lời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trôi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chảy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là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bằng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00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chứng</a:t>
            </a:r>
            <a:r>
              <a:rPr lang="en-US" sz="1800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95325"/>
            <a:ext cx="13106400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5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Hệ</a:t>
            </a:r>
            <a:r>
              <a:rPr lang="en-US" sz="50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sinh</a:t>
            </a:r>
            <a:r>
              <a:rPr lang="en-US" sz="50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thái</a:t>
            </a:r>
            <a:r>
              <a:rPr lang="en-US" sz="50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, </a:t>
            </a:r>
            <a:r>
              <a:rPr lang="en-US" sz="5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quyền</a:t>
            </a:r>
            <a:r>
              <a:rPr lang="en-US" sz="50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riêng</a:t>
            </a:r>
            <a:r>
              <a:rPr lang="en-US" sz="50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tư</a:t>
            </a:r>
            <a:r>
              <a:rPr lang="en-US" sz="50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, chi </a:t>
            </a:r>
            <a:r>
              <a:rPr lang="en-US" sz="5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phí</a:t>
            </a:r>
            <a:r>
              <a:rPr lang="en-US" sz="50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và</a:t>
            </a:r>
            <a:r>
              <a:rPr lang="en-US" sz="50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giới</a:t>
            </a:r>
            <a:r>
              <a:rPr lang="en-US" sz="500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hạn</a:t>
            </a:r>
            <a:endParaRPr lang="en-US" sz="5000" b="1" dirty="0">
              <a:solidFill>
                <a:srgbClr val="FFFFFF"/>
              </a:solidFill>
              <a:latin typeface="Times New Roman" panose="02020603050405020304" pitchFamily="18" charset="0"/>
              <a:ea typeface="Bricolage Grotesque Bold" panose="020B0605040402000204"/>
              <a:cs typeface="Times New Roman" panose="02020603050405020304" pitchFamily="18" charset="0"/>
              <a:sym typeface="Bricolage Grotesque Bold" panose="020B06050404020002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14400" y="1381125"/>
            <a:ext cx="14382750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Bốn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câu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hỏi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cần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trả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lời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trước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khi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triển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khai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trong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tổ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chức</a:t>
            </a:r>
            <a:r>
              <a:rPr lang="en-US" sz="1875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2571750"/>
            <a:ext cx="7620000" cy="2667000"/>
            <a:chOff x="0" y="0"/>
            <a:chExt cx="10160000" cy="35560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0160000" cy="3556000"/>
              <a:chOff x="0" y="0"/>
              <a:chExt cx="10160000" cy="3556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0160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00" h="3556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16213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10160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381000" y="1163636"/>
              <a:ext cx="1169220" cy="1220789"/>
              <a:chOff x="0" y="719136"/>
              <a:chExt cx="1169220" cy="1220789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796925"/>
                <a:ext cx="11430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1143000">
                    <a:moveTo>
                      <a:pt x="571500" y="0"/>
                    </a:moveTo>
                    <a:cubicBezTo>
                      <a:pt x="887131" y="0"/>
                      <a:pt x="1143000" y="255869"/>
                      <a:pt x="1143000" y="571500"/>
                    </a:cubicBezTo>
                    <a:cubicBezTo>
                      <a:pt x="1143000" y="887131"/>
                      <a:pt x="887131" y="1143000"/>
                      <a:pt x="571500" y="1143000"/>
                    </a:cubicBezTo>
                    <a:cubicBezTo>
                      <a:pt x="255869" y="1143000"/>
                      <a:pt x="0" y="887131"/>
                      <a:pt x="0" y="571500"/>
                    </a:cubicBezTo>
                    <a:cubicBezTo>
                      <a:pt x="0" y="255869"/>
                      <a:pt x="255869" y="0"/>
                      <a:pt x="571500" y="0"/>
                    </a:cubicBezTo>
                    <a:close/>
                  </a:path>
                </a:pathLst>
              </a:custGeom>
              <a:solidFill>
                <a:srgbClr val="FF6B6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26220" y="719136"/>
                <a:ext cx="1143000" cy="11906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r>
                  <a:rPr lang="en-US" sz="2700" b="1" dirty="0">
                    <a:solidFill>
                      <a:srgbClr val="0B132B"/>
                    </a:solidFill>
                    <a:latin typeface="Times New Roman" panose="02020603050405020304" pitchFamily="18" charset="0"/>
                    <a:ea typeface="Bricolage Grotesque Bold" panose="020B0605040402000204"/>
                    <a:cs typeface="Times New Roman" panose="02020603050405020304" pitchFamily="18" charset="0"/>
                    <a:sym typeface="Bricolage Grotesque Bold" panose="020B0605040402000204"/>
                  </a:rPr>
                  <a:t>1</a:t>
                </a: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905000" y="485775"/>
              <a:ext cx="7620000" cy="397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0"/>
                </a:lnSpc>
              </a:pPr>
              <a:r>
                <a:rPr lang="en-US" sz="3200" b="1" dirty="0">
                  <a:solidFill>
                    <a:srgbClr val="FF6B6B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DỮ LIỆU ĐI ĐÂU?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05000" y="1497905"/>
              <a:ext cx="7493000" cy="10259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Lưu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trữ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,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huấn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luyện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, chia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sẻ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và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xóa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dữ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liệu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được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quy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định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thế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nào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?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239250" y="2571750"/>
            <a:ext cx="7620000" cy="2667000"/>
            <a:chOff x="0" y="0"/>
            <a:chExt cx="10160000" cy="355600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0160000" cy="3556000"/>
              <a:chOff x="0" y="0"/>
              <a:chExt cx="10160000" cy="3556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0160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00" h="3556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16213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0160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81000" y="1120775"/>
              <a:ext cx="1143000" cy="1190625"/>
              <a:chOff x="0" y="676275"/>
              <a:chExt cx="1143000" cy="11906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723900"/>
                <a:ext cx="11430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1143000">
                    <a:moveTo>
                      <a:pt x="571500" y="0"/>
                    </a:moveTo>
                    <a:cubicBezTo>
                      <a:pt x="887131" y="0"/>
                      <a:pt x="1143000" y="255869"/>
                      <a:pt x="1143000" y="571500"/>
                    </a:cubicBezTo>
                    <a:cubicBezTo>
                      <a:pt x="1143000" y="887131"/>
                      <a:pt x="887131" y="1143000"/>
                      <a:pt x="571500" y="1143000"/>
                    </a:cubicBezTo>
                    <a:cubicBezTo>
                      <a:pt x="255869" y="1143000"/>
                      <a:pt x="0" y="887131"/>
                      <a:pt x="0" y="571500"/>
                    </a:cubicBezTo>
                    <a:cubicBezTo>
                      <a:pt x="0" y="255869"/>
                      <a:pt x="255869" y="0"/>
                      <a:pt x="571500" y="0"/>
                    </a:cubicBezTo>
                    <a:close/>
                  </a:path>
                </a:pathLst>
              </a:custGeom>
              <a:solidFill>
                <a:srgbClr val="4CC9F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676275"/>
                <a:ext cx="1143000" cy="11906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r>
                  <a:rPr lang="en-US" sz="2700" b="1" dirty="0">
                    <a:solidFill>
                      <a:srgbClr val="0B132B"/>
                    </a:solidFill>
                    <a:latin typeface="Times New Roman" panose="02020603050405020304" pitchFamily="18" charset="0"/>
                    <a:ea typeface="Bricolage Grotesque Bold" panose="020B0605040402000204"/>
                    <a:cs typeface="Times New Roman" panose="02020603050405020304" pitchFamily="18" charset="0"/>
                    <a:sym typeface="Bricolage Grotesque Bold" panose="020B0605040402000204"/>
                  </a:rPr>
                  <a:t>2</a:t>
                </a: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905000" y="485775"/>
              <a:ext cx="7620000" cy="397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0"/>
                </a:lnSpc>
              </a:pPr>
              <a:r>
                <a:rPr lang="en-US" sz="3200" b="1" dirty="0">
                  <a:solidFill>
                    <a:srgbClr val="4CC9F0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AI Ở TRONG ĐÂU?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05000" y="1241425"/>
              <a:ext cx="7493000" cy="1538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ChatGPT: app/API  </a:t>
              </a:r>
            </a:p>
            <a:p>
              <a:pPr algn="l"/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Gemini: Workspace/Android/YouTube  </a:t>
              </a:r>
            </a:p>
            <a:p>
              <a:pPr algn="l"/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Claude: web/API/dev tools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47750" y="5810250"/>
            <a:ext cx="7620000" cy="2667000"/>
            <a:chOff x="0" y="0"/>
            <a:chExt cx="10160000" cy="355600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10160000" cy="3556000"/>
              <a:chOff x="0" y="0"/>
              <a:chExt cx="10160000" cy="3556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0160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00" h="3556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16213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10160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81000" y="1226984"/>
              <a:ext cx="1143000" cy="1190625"/>
              <a:chOff x="0" y="782484"/>
              <a:chExt cx="1143000" cy="11906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830109"/>
                <a:ext cx="11430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1143000">
                    <a:moveTo>
                      <a:pt x="571500" y="0"/>
                    </a:moveTo>
                    <a:cubicBezTo>
                      <a:pt x="887131" y="0"/>
                      <a:pt x="1143000" y="255869"/>
                      <a:pt x="1143000" y="571500"/>
                    </a:cubicBezTo>
                    <a:cubicBezTo>
                      <a:pt x="1143000" y="887131"/>
                      <a:pt x="887131" y="1143000"/>
                      <a:pt x="571500" y="1143000"/>
                    </a:cubicBezTo>
                    <a:cubicBezTo>
                      <a:pt x="255869" y="1143000"/>
                      <a:pt x="0" y="887131"/>
                      <a:pt x="0" y="571500"/>
                    </a:cubicBezTo>
                    <a:cubicBezTo>
                      <a:pt x="0" y="255869"/>
                      <a:pt x="255869" y="0"/>
                      <a:pt x="571500" y="0"/>
                    </a:cubicBezTo>
                    <a:close/>
                  </a:path>
                </a:pathLst>
              </a:custGeom>
              <a:solidFill>
                <a:srgbClr val="5EE1B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782484"/>
                <a:ext cx="1143000" cy="11906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r>
                  <a:rPr lang="en-US" sz="2700" b="1" dirty="0">
                    <a:solidFill>
                      <a:srgbClr val="0B132B"/>
                    </a:solidFill>
                    <a:latin typeface="Times New Roman" panose="02020603050405020304" pitchFamily="18" charset="0"/>
                    <a:ea typeface="Bricolage Grotesque Bold" panose="020B0605040402000204"/>
                    <a:cs typeface="Times New Roman" panose="02020603050405020304" pitchFamily="18" charset="0"/>
                    <a:sym typeface="Bricolage Grotesque Bold" panose="020B0605040402000204"/>
                  </a:rPr>
                  <a:t>3</a:t>
                </a:r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905000" y="485775"/>
              <a:ext cx="7620000" cy="397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0"/>
                </a:lnSpc>
              </a:pPr>
              <a:r>
                <a:rPr lang="en-US" sz="3200" b="1" dirty="0">
                  <a:solidFill>
                    <a:srgbClr val="5EE1B7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CHI PHÍ THỰC LÀ GÌ?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17700" y="1377132"/>
              <a:ext cx="7493000" cy="10259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Không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chỉ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thuê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bao: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còn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API,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quản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trị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,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kiểm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định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,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đào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tạo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và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rủi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ro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sai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sót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239250" y="5810250"/>
            <a:ext cx="7620000" cy="2667000"/>
            <a:chOff x="0" y="0"/>
            <a:chExt cx="10160000" cy="3556000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10160000" cy="3556000"/>
              <a:chOff x="0" y="0"/>
              <a:chExt cx="10160000" cy="35560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01600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10160000" h="3556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16213E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101600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00255" y="1226983"/>
              <a:ext cx="1159386" cy="1190626"/>
              <a:chOff x="19255" y="782483"/>
              <a:chExt cx="1159386" cy="11906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35641" y="830109"/>
                <a:ext cx="11430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1143000">
                    <a:moveTo>
                      <a:pt x="571500" y="0"/>
                    </a:moveTo>
                    <a:cubicBezTo>
                      <a:pt x="887131" y="0"/>
                      <a:pt x="1143000" y="255869"/>
                      <a:pt x="1143000" y="571500"/>
                    </a:cubicBezTo>
                    <a:cubicBezTo>
                      <a:pt x="1143000" y="887131"/>
                      <a:pt x="887131" y="1143000"/>
                      <a:pt x="571500" y="1143000"/>
                    </a:cubicBezTo>
                    <a:cubicBezTo>
                      <a:pt x="255869" y="1143000"/>
                      <a:pt x="0" y="887131"/>
                      <a:pt x="0" y="571500"/>
                    </a:cubicBezTo>
                    <a:cubicBezTo>
                      <a:pt x="0" y="255869"/>
                      <a:pt x="255869" y="0"/>
                      <a:pt x="571500" y="0"/>
                    </a:cubicBezTo>
                    <a:close/>
                  </a:path>
                </a:pathLst>
              </a:custGeom>
              <a:solidFill>
                <a:srgbClr val="F6C85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9255" y="782483"/>
                <a:ext cx="1143000" cy="11906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80"/>
                  </a:lnSpc>
                </a:pPr>
                <a:r>
                  <a:rPr lang="en-US" sz="2700" b="1" dirty="0">
                    <a:solidFill>
                      <a:srgbClr val="0B132B"/>
                    </a:solidFill>
                    <a:latin typeface="Times New Roman" panose="02020603050405020304" pitchFamily="18" charset="0"/>
                    <a:ea typeface="Bricolage Grotesque Bold" panose="020B0605040402000204"/>
                    <a:cs typeface="Times New Roman" panose="02020603050405020304" pitchFamily="18" charset="0"/>
                    <a:sym typeface="Bricolage Grotesque Bold" panose="020B0605040402000204"/>
                  </a:rPr>
                  <a:t>4</a:t>
                </a:r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1905000" y="485775"/>
              <a:ext cx="7823200" cy="6565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sz="3200" b="1" dirty="0">
                  <a:solidFill>
                    <a:srgbClr val="F6C85F"/>
                  </a:solidFill>
                  <a:latin typeface="Times New Roman" panose="02020603050405020304" pitchFamily="18" charset="0"/>
                  <a:ea typeface="Bricolage Grotesque Bold" panose="020B0605040402000204"/>
                  <a:cs typeface="Times New Roman" panose="02020603050405020304" pitchFamily="18" charset="0"/>
                  <a:sym typeface="Bricolage Grotesque Bold" panose="020B0605040402000204"/>
                </a:rPr>
                <a:t>GIỚI HẠN THAY ĐỔI RA SAO?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905000" y="1498283"/>
              <a:ext cx="7493000" cy="10259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Hạn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mức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miễn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phí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, model,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khu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vực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và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tính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năng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có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thể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đổi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mà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không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đồng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bộ</a:t>
              </a:r>
              <a:r>
                <a:rPr lang="en-US" sz="2500" dirty="0">
                  <a:solidFill>
                    <a:srgbClr val="FFFFFF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76275"/>
            <a:ext cx="16459200" cy="5884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60"/>
              </a:lnSpc>
            </a:pPr>
            <a:r>
              <a:rPr lang="en-US" sz="55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Không</a:t>
            </a:r>
            <a:r>
              <a:rPr lang="en-US" sz="55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5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có</a:t>
            </a:r>
            <a:r>
              <a:rPr lang="en-US" sz="55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chatbot </a:t>
            </a:r>
            <a:r>
              <a:rPr lang="en-US" sz="55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tốt</a:t>
            </a:r>
            <a:r>
              <a:rPr lang="en-US" sz="55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5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nhất</a:t>
            </a:r>
            <a:r>
              <a:rPr lang="en-US" sz="55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— </a:t>
            </a:r>
            <a:r>
              <a:rPr lang="en-US" sz="55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chỉ</a:t>
            </a:r>
            <a:r>
              <a:rPr lang="en-US" sz="55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5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có</a:t>
            </a:r>
            <a:r>
              <a:rPr lang="en-US" sz="55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5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lựa</a:t>
            </a:r>
            <a:r>
              <a:rPr lang="en-US" sz="55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5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chọn</a:t>
            </a:r>
            <a:r>
              <a:rPr lang="en-US" sz="55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5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phù</a:t>
            </a:r>
            <a:r>
              <a:rPr lang="en-US" sz="55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55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hợp</a:t>
            </a:r>
            <a:endParaRPr lang="en-US" sz="5500" b="1" dirty="0">
              <a:solidFill>
                <a:srgbClr val="172033"/>
              </a:solidFill>
              <a:latin typeface="Times New Roman" panose="02020603050405020304" pitchFamily="18" charset="0"/>
              <a:ea typeface="Bricolage Grotesque Bold" panose="020B0605040402000204"/>
              <a:cs typeface="Times New Roman" panose="02020603050405020304" pitchFamily="18" charset="0"/>
              <a:sym typeface="Bricolage Grotesque Bold" panose="020B06050404020002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14400" y="1381125"/>
            <a:ext cx="14382750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Chọn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theo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công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việc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,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dữ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liệu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và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mức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rủi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ro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có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thể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chấp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1875" dirty="0" err="1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nhận</a:t>
            </a:r>
            <a:r>
              <a:rPr lang="en-US" sz="1875" dirty="0">
                <a:solidFill>
                  <a:srgbClr val="667085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85875" y="2857500"/>
            <a:ext cx="4857750" cy="2480816"/>
            <a:chOff x="0" y="0"/>
            <a:chExt cx="6477000" cy="3307754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6477000" cy="1905000"/>
              <a:chOff x="0" y="0"/>
              <a:chExt cx="6477000" cy="1905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477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6477000" h="1905000">
                    <a:moveTo>
                      <a:pt x="44824" y="0"/>
                    </a:moveTo>
                    <a:lnTo>
                      <a:pt x="6432176" y="0"/>
                    </a:lnTo>
                    <a:cubicBezTo>
                      <a:pt x="6444064" y="0"/>
                      <a:pt x="6455465" y="4722"/>
                      <a:pt x="6463871" y="13129"/>
                    </a:cubicBezTo>
                    <a:cubicBezTo>
                      <a:pt x="6472277" y="21535"/>
                      <a:pt x="6477000" y="32936"/>
                      <a:pt x="6477000" y="44824"/>
                    </a:cubicBezTo>
                    <a:lnTo>
                      <a:pt x="6477000" y="1860177"/>
                    </a:lnTo>
                    <a:cubicBezTo>
                      <a:pt x="6477000" y="1872064"/>
                      <a:pt x="6472277" y="1883465"/>
                      <a:pt x="6463871" y="1891872"/>
                    </a:cubicBezTo>
                    <a:cubicBezTo>
                      <a:pt x="6455465" y="1900278"/>
                      <a:pt x="6444064" y="1905000"/>
                      <a:pt x="6432176" y="1905000"/>
                    </a:cubicBezTo>
                    <a:lnTo>
                      <a:pt x="44824" y="1905000"/>
                    </a:lnTo>
                    <a:cubicBezTo>
                      <a:pt x="32936" y="1905000"/>
                      <a:pt x="21535" y="1900278"/>
                      <a:pt x="13129" y="1891872"/>
                    </a:cubicBezTo>
                    <a:cubicBezTo>
                      <a:pt x="4722" y="1883465"/>
                      <a:pt x="0" y="1872064"/>
                      <a:pt x="0" y="1860177"/>
                    </a:cubicBezTo>
                    <a:lnTo>
                      <a:pt x="0" y="44824"/>
                    </a:lnTo>
                    <a:cubicBezTo>
                      <a:pt x="0" y="32936"/>
                      <a:pt x="4722" y="21535"/>
                      <a:pt x="13129" y="13129"/>
                    </a:cubicBezTo>
                    <a:cubicBezTo>
                      <a:pt x="21535" y="4722"/>
                      <a:pt x="32936" y="0"/>
                      <a:pt x="44824" y="0"/>
                    </a:cubicBezTo>
                    <a:close/>
                  </a:path>
                </a:pathLst>
              </a:custGeom>
              <a:solidFill>
                <a:srgbClr val="4CC9F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6477000" cy="19526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3200" b="1" dirty="0">
                    <a:solidFill>
                      <a:srgbClr val="0B132B"/>
                    </a:solidFill>
                    <a:latin typeface="Times New Roman" panose="02020603050405020304" pitchFamily="18" charset="0"/>
                    <a:ea typeface="Bricolage Grotesque Bold" panose="020B0605040402000204"/>
                    <a:cs typeface="Times New Roman" panose="02020603050405020304" pitchFamily="18" charset="0"/>
                    <a:sym typeface="Bricolage Grotesque Bold" panose="020B0605040402000204"/>
                  </a:rPr>
                  <a:t>CHATGPT</a:t>
                </a:r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317500" y="2384425"/>
              <a:ext cx="5842000" cy="9233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5"/>
                </a:lnSpc>
              </a:pP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Viết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,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giải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thích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,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lập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trình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,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tích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hợp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quy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trình</a:t>
              </a:r>
              <a:endParaRPr lang="en-US" sz="25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15125" y="2857500"/>
            <a:ext cx="4857750" cy="2480816"/>
            <a:chOff x="0" y="0"/>
            <a:chExt cx="6477000" cy="3307754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6477000" cy="1905000"/>
              <a:chOff x="0" y="0"/>
              <a:chExt cx="6477000" cy="1905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477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6477000" h="1905000">
                    <a:moveTo>
                      <a:pt x="44824" y="0"/>
                    </a:moveTo>
                    <a:lnTo>
                      <a:pt x="6432176" y="0"/>
                    </a:lnTo>
                    <a:cubicBezTo>
                      <a:pt x="6444064" y="0"/>
                      <a:pt x="6455465" y="4722"/>
                      <a:pt x="6463871" y="13129"/>
                    </a:cubicBezTo>
                    <a:cubicBezTo>
                      <a:pt x="6472277" y="21535"/>
                      <a:pt x="6477000" y="32936"/>
                      <a:pt x="6477000" y="44824"/>
                    </a:cubicBezTo>
                    <a:lnTo>
                      <a:pt x="6477000" y="1860177"/>
                    </a:lnTo>
                    <a:cubicBezTo>
                      <a:pt x="6477000" y="1872064"/>
                      <a:pt x="6472277" y="1883465"/>
                      <a:pt x="6463871" y="1891872"/>
                    </a:cubicBezTo>
                    <a:cubicBezTo>
                      <a:pt x="6455465" y="1900278"/>
                      <a:pt x="6444064" y="1905000"/>
                      <a:pt x="6432176" y="1905000"/>
                    </a:cubicBezTo>
                    <a:lnTo>
                      <a:pt x="44824" y="1905000"/>
                    </a:lnTo>
                    <a:cubicBezTo>
                      <a:pt x="32936" y="1905000"/>
                      <a:pt x="21535" y="1900278"/>
                      <a:pt x="13129" y="1891872"/>
                    </a:cubicBezTo>
                    <a:cubicBezTo>
                      <a:pt x="4722" y="1883465"/>
                      <a:pt x="0" y="1872064"/>
                      <a:pt x="0" y="1860177"/>
                    </a:cubicBezTo>
                    <a:lnTo>
                      <a:pt x="0" y="44824"/>
                    </a:lnTo>
                    <a:cubicBezTo>
                      <a:pt x="0" y="32936"/>
                      <a:pt x="4722" y="21535"/>
                      <a:pt x="13129" y="13129"/>
                    </a:cubicBezTo>
                    <a:cubicBezTo>
                      <a:pt x="21535" y="4722"/>
                      <a:pt x="32936" y="0"/>
                      <a:pt x="44824" y="0"/>
                    </a:cubicBezTo>
                    <a:close/>
                  </a:path>
                </a:pathLst>
              </a:custGeom>
              <a:solidFill>
                <a:srgbClr val="5EE1B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6477000" cy="19526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3200" b="1" dirty="0">
                    <a:solidFill>
                      <a:srgbClr val="0B132B"/>
                    </a:solidFill>
                    <a:latin typeface="Times New Roman" panose="02020603050405020304" pitchFamily="18" charset="0"/>
                    <a:ea typeface="Bricolage Grotesque Bold" panose="020B0605040402000204"/>
                    <a:cs typeface="Times New Roman" panose="02020603050405020304" pitchFamily="18" charset="0"/>
                    <a:sym typeface="Bricolage Grotesque Bold" panose="020B0605040402000204"/>
                  </a:rPr>
                  <a:t>GEMINI</a:t>
                </a: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17500" y="2384425"/>
              <a:ext cx="5842000" cy="9233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5"/>
                </a:lnSpc>
              </a:pP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Workspace,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tìm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kiếm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, media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đa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phương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thức</a:t>
              </a:r>
              <a:endParaRPr lang="en-US" sz="2500" dirty="0">
                <a:solidFill>
                  <a:srgbClr val="172033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144375" y="2857500"/>
            <a:ext cx="4857750" cy="2480816"/>
            <a:chOff x="0" y="0"/>
            <a:chExt cx="6477000" cy="3307754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6477000" cy="1905000"/>
              <a:chOff x="0" y="0"/>
              <a:chExt cx="6477000" cy="1905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477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6477000" h="1905000">
                    <a:moveTo>
                      <a:pt x="44824" y="0"/>
                    </a:moveTo>
                    <a:lnTo>
                      <a:pt x="6432176" y="0"/>
                    </a:lnTo>
                    <a:cubicBezTo>
                      <a:pt x="6444064" y="0"/>
                      <a:pt x="6455465" y="4722"/>
                      <a:pt x="6463871" y="13129"/>
                    </a:cubicBezTo>
                    <a:cubicBezTo>
                      <a:pt x="6472277" y="21535"/>
                      <a:pt x="6477000" y="32936"/>
                      <a:pt x="6477000" y="44824"/>
                    </a:cubicBezTo>
                    <a:lnTo>
                      <a:pt x="6477000" y="1860177"/>
                    </a:lnTo>
                    <a:cubicBezTo>
                      <a:pt x="6477000" y="1872064"/>
                      <a:pt x="6472277" y="1883465"/>
                      <a:pt x="6463871" y="1891872"/>
                    </a:cubicBezTo>
                    <a:cubicBezTo>
                      <a:pt x="6455465" y="1900278"/>
                      <a:pt x="6444064" y="1905000"/>
                      <a:pt x="6432176" y="1905000"/>
                    </a:cubicBezTo>
                    <a:lnTo>
                      <a:pt x="44824" y="1905000"/>
                    </a:lnTo>
                    <a:cubicBezTo>
                      <a:pt x="32936" y="1905000"/>
                      <a:pt x="21535" y="1900278"/>
                      <a:pt x="13129" y="1891872"/>
                    </a:cubicBezTo>
                    <a:cubicBezTo>
                      <a:pt x="4722" y="1883465"/>
                      <a:pt x="0" y="1872064"/>
                      <a:pt x="0" y="1860177"/>
                    </a:cubicBezTo>
                    <a:lnTo>
                      <a:pt x="0" y="44824"/>
                    </a:lnTo>
                    <a:cubicBezTo>
                      <a:pt x="0" y="32936"/>
                      <a:pt x="4722" y="21535"/>
                      <a:pt x="13129" y="13129"/>
                    </a:cubicBezTo>
                    <a:cubicBezTo>
                      <a:pt x="21535" y="4722"/>
                      <a:pt x="32936" y="0"/>
                      <a:pt x="44824" y="0"/>
                    </a:cubicBezTo>
                    <a:close/>
                  </a:path>
                </a:pathLst>
              </a:custGeom>
              <a:solidFill>
                <a:srgbClr val="FF6B6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6477000" cy="19526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3200" b="1" dirty="0">
                    <a:solidFill>
                      <a:srgbClr val="0B132B"/>
                    </a:solidFill>
                    <a:latin typeface="Times New Roman" panose="02020603050405020304" pitchFamily="18" charset="0"/>
                    <a:ea typeface="Bricolage Grotesque Bold" panose="020B0605040402000204"/>
                    <a:cs typeface="Times New Roman" panose="02020603050405020304" pitchFamily="18" charset="0"/>
                    <a:sym typeface="Bricolage Grotesque Bold" panose="020B0605040402000204"/>
                  </a:rPr>
                  <a:t>CLAUDE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317500" y="2384425"/>
              <a:ext cx="5842000" cy="9233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5"/>
                </a:lnSpc>
              </a:pP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Tài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liệu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dài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,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tóm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tắt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,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văn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bản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cẩn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 </a:t>
              </a:r>
              <a:r>
                <a:rPr lang="en-US" sz="2500" dirty="0" err="1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trọng</a:t>
              </a:r>
              <a:r>
                <a:rPr lang="en-US" sz="2500" dirty="0">
                  <a:solidFill>
                    <a:srgbClr val="172033"/>
                  </a:solidFill>
                  <a:latin typeface="Times New Roman" panose="02020603050405020304" pitchFamily="18" charset="0"/>
                  <a:ea typeface="Be Vietnam" panose="00000500000000000000"/>
                  <a:cs typeface="Times New Roman" panose="02020603050405020304" pitchFamily="18" charset="0"/>
                  <a:sym typeface="Be Vietnam" panose="00000500000000000000"/>
                </a:rPr>
                <a:t>, code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809750" y="6667500"/>
            <a:ext cx="14668500" cy="2000250"/>
            <a:chOff x="0" y="0"/>
            <a:chExt cx="19558000" cy="2667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558000" cy="2667000"/>
            </a:xfrm>
            <a:custGeom>
              <a:avLst/>
              <a:gdLst/>
              <a:ahLst/>
              <a:cxnLst/>
              <a:rect l="l" t="t" r="r" b="b"/>
              <a:pathLst>
                <a:path w="19558000" h="2667000">
                  <a:moveTo>
                    <a:pt x="0" y="0"/>
                  </a:moveTo>
                  <a:lnTo>
                    <a:pt x="19558000" y="0"/>
                  </a:lnTo>
                  <a:lnTo>
                    <a:pt x="195580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E5DFD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9558000" cy="270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048250" y="6962775"/>
            <a:ext cx="8191500" cy="37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3200" b="1" spc="105" dirty="0">
                <a:solidFill>
                  <a:srgbClr val="FF6B6B"/>
                </a:solidFill>
                <a:latin typeface="Times New Roman" panose="02020603050405020304" pitchFamily="18" charset="0"/>
                <a:ea typeface="Be Vietnam Ultra-Bold" panose="00000900000000000000"/>
                <a:cs typeface="Times New Roman" panose="02020603050405020304" pitchFamily="18" charset="0"/>
                <a:sym typeface="Be Vietnam Ultra-Bold" panose="00000900000000000000"/>
              </a:rPr>
              <a:t>NGUYÊN TẮC AN TOÀN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86000" y="7705725"/>
            <a:ext cx="13716000" cy="310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</a:pPr>
            <a:r>
              <a:rPr lang="en-US" sz="25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Kiểm</a:t>
            </a:r>
            <a:r>
              <a:rPr lang="en-US" sz="25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chứng</a:t>
            </a:r>
            <a:r>
              <a:rPr lang="en-US" sz="25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thông</a:t>
            </a:r>
            <a:r>
              <a:rPr lang="en-US" sz="25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tin - </a:t>
            </a:r>
            <a:r>
              <a:rPr lang="en-US" sz="25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chạy</a:t>
            </a:r>
            <a:r>
              <a:rPr lang="en-US" sz="25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thử</a:t>
            </a:r>
            <a:r>
              <a:rPr lang="en-US" sz="25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code - </a:t>
            </a:r>
            <a:r>
              <a:rPr lang="en-US" sz="25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không</a:t>
            </a:r>
            <a:r>
              <a:rPr lang="en-US" sz="25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nhập</a:t>
            </a:r>
            <a:r>
              <a:rPr lang="en-US" sz="25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dữ</a:t>
            </a:r>
            <a:r>
              <a:rPr lang="en-US" sz="25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liệu</a:t>
            </a:r>
            <a:r>
              <a:rPr lang="en-US" sz="25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nhạy</a:t>
            </a:r>
            <a:r>
              <a:rPr lang="en-US" sz="25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cảm</a:t>
            </a:r>
            <a:r>
              <a:rPr lang="en-US" sz="25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khi</a:t>
            </a:r>
            <a:r>
              <a:rPr lang="en-US" sz="25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chính</a:t>
            </a:r>
            <a:r>
              <a:rPr lang="en-US" sz="25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sách</a:t>
            </a:r>
            <a:r>
              <a:rPr lang="en-US" sz="25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chưa</a:t>
            </a:r>
            <a:r>
              <a:rPr lang="en-US" sz="2500" b="1" dirty="0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rõ</a:t>
            </a:r>
            <a:endParaRPr lang="en-US" sz="2500" b="1" dirty="0">
              <a:solidFill>
                <a:srgbClr val="172033"/>
              </a:solidFill>
              <a:latin typeface="Times New Roman" panose="02020603050405020304" pitchFamily="18" charset="0"/>
              <a:ea typeface="Bricolage Grotesque Bold" panose="020B0605040402000204"/>
              <a:cs typeface="Times New Roman" panose="02020603050405020304" pitchFamily="18" charset="0"/>
              <a:sym typeface="Bricolage Grotesque Bold" panose="020B060504040200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695325"/>
            <a:ext cx="14287500" cy="665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495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Tài </a:t>
            </a:r>
            <a:r>
              <a:rPr lang="en-US" sz="495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liệu</a:t>
            </a:r>
            <a:r>
              <a:rPr lang="en-US" sz="495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495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tham</a:t>
            </a:r>
            <a:r>
              <a:rPr lang="en-US" sz="495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</a:t>
            </a:r>
            <a:r>
              <a:rPr lang="en-US" sz="4950" b="1" dirty="0" err="1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khảo</a:t>
            </a:r>
            <a:r>
              <a:rPr lang="en-US" sz="4950" b="1" dirty="0">
                <a:solidFill>
                  <a:srgbClr val="FFFFFF"/>
                </a:solidFill>
                <a:latin typeface="Times New Roman" panose="02020603050405020304" pitchFamily="18" charset="0"/>
                <a:ea typeface="Bricolage Grotesque Bold" panose="020B0605040402000204"/>
                <a:cs typeface="Times New Roman" panose="02020603050405020304" pitchFamily="18" charset="0"/>
                <a:sym typeface="Bricolage Grotesque Bold" panose="020B0605040402000204"/>
              </a:rPr>
              <a:t> - APA 7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381125"/>
            <a:ext cx="14382750" cy="294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Nguồn</a:t>
            </a:r>
            <a:r>
              <a:rPr lang="en-US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chính</a:t>
            </a:r>
            <a:r>
              <a:rPr lang="en-US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thức</a:t>
            </a:r>
            <a:r>
              <a:rPr lang="en-US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được</a:t>
            </a:r>
            <a:r>
              <a:rPr lang="en-US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ưu</a:t>
            </a:r>
            <a:r>
              <a:rPr lang="en-US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tiên</a:t>
            </a:r>
            <a:r>
              <a:rPr lang="en-US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; </a:t>
            </a:r>
            <a:r>
              <a:rPr lang="en-US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nguồn</a:t>
            </a:r>
            <a:r>
              <a:rPr lang="en-US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thứ</a:t>
            </a:r>
            <a:r>
              <a:rPr lang="en-US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cấp</a:t>
            </a:r>
            <a:r>
              <a:rPr lang="en-US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dùng</a:t>
            </a:r>
            <a:r>
              <a:rPr lang="en-US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để</a:t>
            </a:r>
            <a:r>
              <a:rPr lang="en-US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đối</a:t>
            </a:r>
            <a:r>
              <a:rPr lang="en-US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chiếu</a:t>
            </a:r>
            <a:r>
              <a:rPr lang="en-US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và</a:t>
            </a:r>
            <a:r>
              <a:rPr lang="en-US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dirty="0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diễn</a:t>
            </a:r>
            <a:r>
              <a:rPr lang="en-US" dirty="0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err="1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giải</a:t>
            </a:r>
            <a:r>
              <a:rPr lang="en-US">
                <a:solidFill>
                  <a:srgbClr val="4CC9F0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.</a:t>
            </a:r>
            <a:endParaRPr lang="en-US" dirty="0">
              <a:solidFill>
                <a:srgbClr val="4CC9F0"/>
              </a:solidFill>
              <a:latin typeface="Times New Roman" panose="02020603050405020304" pitchFamily="18" charset="0"/>
              <a:ea typeface="Be Vietnam" panose="00000500000000000000"/>
              <a:cs typeface="Times New Roman" panose="02020603050405020304" pitchFamily="18" charset="0"/>
              <a:sym typeface="Be Vietnam" panose="0000050000000000000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857250" y="2047875"/>
            <a:ext cx="16440150" cy="6858000"/>
            <a:chOff x="0" y="0"/>
            <a:chExt cx="10795000" cy="914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795000" cy="9144000"/>
            </a:xfrm>
            <a:custGeom>
              <a:avLst/>
              <a:gdLst/>
              <a:ahLst/>
              <a:cxnLst/>
              <a:rect l="l" t="t" r="r" b="b"/>
              <a:pathLst>
                <a:path w="10795000" h="9144000">
                  <a:moveTo>
                    <a:pt x="0" y="0"/>
                  </a:moveTo>
                  <a:lnTo>
                    <a:pt x="10795000" y="0"/>
                  </a:lnTo>
                  <a:lnTo>
                    <a:pt x="10795000" y="9144000"/>
                  </a:lnTo>
                  <a:lnTo>
                    <a:pt x="0" y="9144000"/>
                  </a:lnTo>
                  <a:close/>
                </a:path>
              </a:pathLst>
            </a:custGeom>
            <a:solidFill>
              <a:srgbClr val="16213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795000" cy="918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8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43000" y="2305050"/>
            <a:ext cx="7524750" cy="3954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5"/>
              </a:lnSpc>
            </a:pPr>
            <a:r>
              <a:rPr lang="en-US" sz="2500" dirty="0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OpenAI. (n.d.). News &amp; product documentation. https://openai.com/news/</a:t>
            </a:r>
          </a:p>
          <a:p>
            <a:pPr algn="l">
              <a:lnSpc>
                <a:spcPts val="2225"/>
              </a:lnSpc>
            </a:pPr>
            <a:endParaRPr lang="en-US" sz="2500" dirty="0">
              <a:solidFill>
                <a:srgbClr val="FFFFFF"/>
              </a:solidFill>
              <a:latin typeface="Times New Roman" panose="02020603050405020304" pitchFamily="18" charset="0"/>
              <a:ea typeface="Be Vietnam" panose="00000500000000000000"/>
              <a:cs typeface="Times New Roman" panose="02020603050405020304" pitchFamily="18" charset="0"/>
              <a:sym typeface="Be Vietnam" panose="00000500000000000000"/>
            </a:endParaRPr>
          </a:p>
          <a:p>
            <a:pPr algn="l">
              <a:lnSpc>
                <a:spcPts val="2225"/>
              </a:lnSpc>
            </a:pPr>
            <a:r>
              <a:rPr lang="en-US" sz="2500" dirty="0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Google. (2024). Bard becomes Gemini. The Keyword. https://blog.google/</a:t>
            </a:r>
          </a:p>
          <a:p>
            <a:pPr algn="l">
              <a:lnSpc>
                <a:spcPts val="2225"/>
              </a:lnSpc>
            </a:pPr>
            <a:endParaRPr lang="en-US" sz="2500" dirty="0">
              <a:solidFill>
                <a:srgbClr val="FFFFFF"/>
              </a:solidFill>
              <a:latin typeface="Times New Roman" panose="02020603050405020304" pitchFamily="18" charset="0"/>
              <a:ea typeface="Be Vietnam" panose="00000500000000000000"/>
              <a:cs typeface="Times New Roman" panose="02020603050405020304" pitchFamily="18" charset="0"/>
              <a:sym typeface="Be Vietnam" panose="00000500000000000000"/>
            </a:endParaRPr>
          </a:p>
          <a:p>
            <a:pPr algn="l">
              <a:lnSpc>
                <a:spcPts val="2225"/>
              </a:lnSpc>
            </a:pPr>
            <a:r>
              <a:rPr lang="en-US" sz="2500" dirty="0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Google DeepMind. (n.d.). Gemini model updates. https://deepmind.google/</a:t>
            </a:r>
          </a:p>
          <a:p>
            <a:pPr algn="l">
              <a:lnSpc>
                <a:spcPts val="2225"/>
              </a:lnSpc>
            </a:pPr>
            <a:endParaRPr lang="en-US" sz="2500" dirty="0">
              <a:solidFill>
                <a:srgbClr val="FFFFFF"/>
              </a:solidFill>
              <a:latin typeface="Times New Roman" panose="02020603050405020304" pitchFamily="18" charset="0"/>
              <a:ea typeface="Be Vietnam" panose="00000500000000000000"/>
              <a:cs typeface="Times New Roman" panose="02020603050405020304" pitchFamily="18" charset="0"/>
              <a:sym typeface="Be Vietnam" panose="00000500000000000000"/>
            </a:endParaRPr>
          </a:p>
          <a:p>
            <a:pPr algn="l">
              <a:lnSpc>
                <a:spcPts val="2225"/>
              </a:lnSpc>
            </a:pPr>
            <a:r>
              <a:rPr lang="en-US" sz="2500" dirty="0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Anthropic. (n.d.). News, research &amp; documentation. https://www.anthropic.com/</a:t>
            </a:r>
          </a:p>
          <a:p>
            <a:pPr algn="l">
              <a:lnSpc>
                <a:spcPts val="2225"/>
              </a:lnSpc>
            </a:pPr>
            <a:endParaRPr lang="en-US" sz="2500" dirty="0">
              <a:solidFill>
                <a:srgbClr val="FFFFFF"/>
              </a:solidFill>
              <a:latin typeface="Times New Roman" panose="02020603050405020304" pitchFamily="18" charset="0"/>
              <a:ea typeface="Be Vietnam" panose="00000500000000000000"/>
              <a:cs typeface="Times New Roman" panose="02020603050405020304" pitchFamily="18" charset="0"/>
              <a:sym typeface="Be Vietnam" panose="00000500000000000000"/>
            </a:endParaRPr>
          </a:p>
          <a:p>
            <a:pPr algn="l">
              <a:lnSpc>
                <a:spcPts val="2225"/>
              </a:lnSpc>
            </a:pPr>
            <a:r>
              <a:rPr lang="en-US" sz="2500" dirty="0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Anthropic. (2022). Constitutional AI: Harmlessness from AI feedback. https://www.anthropic.com/research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20250" y="2305050"/>
            <a:ext cx="7524750" cy="423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5"/>
              </a:lnSpc>
            </a:pPr>
            <a:r>
              <a:rPr lang="en-US" sz="2500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Thế</a:t>
            </a:r>
            <a:r>
              <a:rPr lang="en-US" sz="2500" dirty="0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Giới</a:t>
            </a:r>
            <a:r>
              <a:rPr lang="en-US" sz="2500" dirty="0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Di </a:t>
            </a:r>
            <a:r>
              <a:rPr lang="en-US" sz="2500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Động</a:t>
            </a:r>
            <a:r>
              <a:rPr lang="en-US" sz="2500" dirty="0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. (n.d.). Chatbot </a:t>
            </a:r>
            <a:r>
              <a:rPr lang="en-US" sz="2500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là</a:t>
            </a:r>
            <a:r>
              <a:rPr lang="en-US" sz="2500" dirty="0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gì</a:t>
            </a:r>
            <a:r>
              <a:rPr lang="en-US" sz="2500" dirty="0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? https://www.thegioididong.com/</a:t>
            </a:r>
          </a:p>
          <a:p>
            <a:pPr algn="l">
              <a:lnSpc>
                <a:spcPts val="2225"/>
              </a:lnSpc>
            </a:pPr>
            <a:endParaRPr lang="en-US" sz="2500" dirty="0">
              <a:solidFill>
                <a:srgbClr val="FFFFFF"/>
              </a:solidFill>
              <a:latin typeface="Times New Roman" panose="02020603050405020304" pitchFamily="18" charset="0"/>
              <a:ea typeface="Be Vietnam" panose="00000500000000000000"/>
              <a:cs typeface="Times New Roman" panose="02020603050405020304" pitchFamily="18" charset="0"/>
              <a:sym typeface="Be Vietnam" panose="00000500000000000000"/>
            </a:endParaRPr>
          </a:p>
          <a:p>
            <a:pPr algn="l">
              <a:lnSpc>
                <a:spcPts val="2225"/>
              </a:lnSpc>
            </a:pPr>
            <a:r>
              <a:rPr lang="en-US" sz="2500" dirty="0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VNPT AI. (n.d.). ChatGPT </a:t>
            </a:r>
            <a:r>
              <a:rPr lang="en-US" sz="2500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là</a:t>
            </a:r>
            <a:r>
              <a:rPr lang="en-US" sz="2500" dirty="0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gì</a:t>
            </a:r>
            <a:r>
              <a:rPr lang="en-US" sz="2500" dirty="0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? https://vnptai.io/</a:t>
            </a:r>
          </a:p>
          <a:p>
            <a:pPr algn="l">
              <a:lnSpc>
                <a:spcPts val="2225"/>
              </a:lnSpc>
            </a:pPr>
            <a:endParaRPr lang="en-US" sz="2500" dirty="0">
              <a:solidFill>
                <a:srgbClr val="FFFFFF"/>
              </a:solidFill>
              <a:latin typeface="Times New Roman" panose="02020603050405020304" pitchFamily="18" charset="0"/>
              <a:ea typeface="Be Vietnam" panose="00000500000000000000"/>
              <a:cs typeface="Times New Roman" panose="02020603050405020304" pitchFamily="18" charset="0"/>
              <a:sym typeface="Be Vietnam" panose="00000500000000000000"/>
            </a:endParaRPr>
          </a:p>
          <a:p>
            <a:pPr algn="l">
              <a:lnSpc>
                <a:spcPts val="2225"/>
              </a:lnSpc>
            </a:pPr>
            <a:r>
              <a:rPr lang="en-US" sz="2500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TopZone</a:t>
            </a:r>
            <a:r>
              <a:rPr lang="en-US" sz="2500" dirty="0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. (n.d.). Gemini </a:t>
            </a:r>
            <a:r>
              <a:rPr lang="en-US" sz="2500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là</a:t>
            </a:r>
            <a:r>
              <a:rPr lang="en-US" sz="2500" dirty="0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 </a:t>
            </a:r>
            <a:r>
              <a:rPr lang="en-US" sz="2500" dirty="0" err="1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gì</a:t>
            </a:r>
            <a:r>
              <a:rPr lang="en-US" sz="2500" dirty="0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? https://www.topzone.vn/</a:t>
            </a:r>
          </a:p>
          <a:p>
            <a:pPr algn="l">
              <a:lnSpc>
                <a:spcPts val="2225"/>
              </a:lnSpc>
            </a:pPr>
            <a:endParaRPr lang="en-US" sz="2500" dirty="0">
              <a:solidFill>
                <a:srgbClr val="FFFFFF"/>
              </a:solidFill>
              <a:latin typeface="Times New Roman" panose="02020603050405020304" pitchFamily="18" charset="0"/>
              <a:ea typeface="Be Vietnam" panose="00000500000000000000"/>
              <a:cs typeface="Times New Roman" panose="02020603050405020304" pitchFamily="18" charset="0"/>
              <a:sym typeface="Be Vietnam" panose="00000500000000000000"/>
            </a:endParaRPr>
          </a:p>
          <a:p>
            <a:pPr algn="l">
              <a:lnSpc>
                <a:spcPts val="2225"/>
              </a:lnSpc>
            </a:pPr>
            <a:r>
              <a:rPr lang="en-US" sz="2500" dirty="0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IBM. (n.d.). What is Claude AI? IBM Think. https://www.ibm.com/think</a:t>
            </a:r>
          </a:p>
          <a:p>
            <a:pPr algn="l">
              <a:lnSpc>
                <a:spcPts val="2225"/>
              </a:lnSpc>
            </a:pPr>
            <a:endParaRPr lang="en-US" sz="2500" dirty="0">
              <a:solidFill>
                <a:srgbClr val="FFFFFF"/>
              </a:solidFill>
              <a:latin typeface="Times New Roman" panose="02020603050405020304" pitchFamily="18" charset="0"/>
              <a:ea typeface="Be Vietnam" panose="00000500000000000000"/>
              <a:cs typeface="Times New Roman" panose="02020603050405020304" pitchFamily="18" charset="0"/>
              <a:sym typeface="Be Vietnam" panose="00000500000000000000"/>
            </a:endParaRPr>
          </a:p>
          <a:p>
            <a:pPr algn="l">
              <a:lnSpc>
                <a:spcPts val="2225"/>
              </a:lnSpc>
            </a:pPr>
            <a:r>
              <a:rPr lang="en-US" sz="2500" dirty="0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Search Engine Journal. (n.d.). ChatGPT timeline. https://www.searchenginejournal.com/</a:t>
            </a:r>
          </a:p>
          <a:p>
            <a:pPr algn="l">
              <a:lnSpc>
                <a:spcPts val="2225"/>
              </a:lnSpc>
            </a:pPr>
            <a:endParaRPr lang="en-US" sz="2500" dirty="0">
              <a:solidFill>
                <a:srgbClr val="FFFFFF"/>
              </a:solidFill>
              <a:latin typeface="Times New Roman" panose="02020603050405020304" pitchFamily="18" charset="0"/>
              <a:ea typeface="Be Vietnam" panose="00000500000000000000"/>
              <a:cs typeface="Times New Roman" panose="02020603050405020304" pitchFamily="18" charset="0"/>
              <a:sym typeface="Be Vietnam" panose="00000500000000000000"/>
            </a:endParaRPr>
          </a:p>
          <a:p>
            <a:pPr algn="l">
              <a:lnSpc>
                <a:spcPts val="2225"/>
              </a:lnSpc>
            </a:pPr>
            <a:r>
              <a:rPr lang="en-US" sz="2500" dirty="0">
                <a:solidFill>
                  <a:srgbClr val="FFFFFF"/>
                </a:solidFill>
                <a:latin typeface="Times New Roman" panose="02020603050405020304" pitchFamily="18" charset="0"/>
                <a:ea typeface="Be Vietnam" panose="00000500000000000000"/>
                <a:cs typeface="Times New Roman" panose="02020603050405020304" pitchFamily="18" charset="0"/>
                <a:sym typeface="Be Vietnam" panose="00000500000000000000"/>
              </a:rPr>
              <a:t>Lambright, S. (n.d.). Claude overview. Medium. https://medium.com/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8.32503937007877,&quot;left&quot;:90,&quot;top&quot;:225,&quot;width&quot;:1177.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8.32503937007877,&quot;left&quot;:90,&quot;top&quot;:225,&quot;width&quot;:1177.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8.32503937007877,&quot;left&quot;:90,&quot;top&quot;:225,&quot;width&quot;:1177.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8.32503937007877,&quot;left&quot;:90,&quot;top&quot;:225,&quot;width&quot;:1177.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8.32503937007877,&quot;left&quot;:90,&quot;top&quot;:225,&quot;width&quot;:1177.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8.32503937007877,&quot;left&quot;:90,&quot;top&quot;:225,&quot;width&quot;:1177.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8.32503937007877,&quot;left&quot;:90,&quot;top&quot;:225,&quot;width&quot;:1177.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8.32503937007877,&quot;left&quot;:90,&quot;top&quot;:225,&quot;width&quot;:1177.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8.32503937007877,&quot;left&quot;:90,&quot;top&quot;:225,&quot;width&quot;:1177.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8.32503937007877,&quot;left&quot;:90,&quot;top&quot;:225,&quot;width&quot;:1177.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8.32503937007877,&quot;left&quot;:90,&quot;top&quot;:225,&quot;width&quot;:1177.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8.32503937007877,&quot;left&quot;:90,&quot;top&quot;:225,&quot;width&quot;:1177.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8.32503937007877,&quot;left&quot;:90,&quot;top&quot;:225,&quot;width&quot;:1177.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8.32503937007877,&quot;left&quot;:90,&quot;top&quot;:225,&quot;width&quot;:1177.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1478</Words>
  <Application>Microsoft Office PowerPoint</Application>
  <PresentationFormat>Custom</PresentationFormat>
  <Paragraphs>204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 sánh chatbot AI</dc:title>
  <dc:creator/>
  <cp:lastModifiedBy>Admin</cp:lastModifiedBy>
  <cp:revision>7</cp:revision>
  <dcterms:created xsi:type="dcterms:W3CDTF">2006-08-16T00:00:00Z</dcterms:created>
  <dcterms:modified xsi:type="dcterms:W3CDTF">2026-10-29T14:58:33Z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4E9EE8C00F2340B5BF4DAF60E7089964_12</vt:lpwstr>
  </property>
  <property fmtid="{D5CDD505-2E9C-101B-9397-08002B2CF9AE}" pid="3" name="KSOProductBuildVer">
    <vt:lpwstr>1033-12.2.0.23206</vt:lpwstr>
  </property>
</Properties>
</file>