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embeddedFontLst>
    <p:embeddedFont>
      <p:font typeface="Be Vietnam Ultra-Bold" panose="020B0604020202020204" charset="0"/>
      <p:regular r:id="rId16"/>
    </p:embeddedFont>
    <p:embeddedFont>
      <p:font typeface="IBM Plex Sans" panose="020B0503050203000203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T1gfZjr8tO8?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96500" y="0"/>
            <a:ext cx="8191500" cy="10287000"/>
          </a:xfrm>
          <a:custGeom>
            <a:avLst/>
            <a:gdLst/>
            <a:ahLst/>
            <a:cxnLst/>
            <a:rect l="l" t="t" r="r" b="b"/>
            <a:pathLst>
              <a:path w="8191500" h="10287000">
                <a:moveTo>
                  <a:pt x="0" y="0"/>
                </a:moveTo>
                <a:lnTo>
                  <a:pt x="8191500" y="0"/>
                </a:lnTo>
                <a:lnTo>
                  <a:pt x="8191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" b="-8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525000" y="0"/>
            <a:ext cx="8763000" cy="10287000"/>
            <a:chOff x="0" y="0"/>
            <a:chExt cx="116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684000" cy="13716000"/>
            </a:xfrm>
            <a:custGeom>
              <a:avLst/>
              <a:gdLst/>
              <a:ahLst/>
              <a:cxnLst/>
              <a:rect l="l" t="t" r="r" b="b"/>
              <a:pathLst>
                <a:path w="11684000" h="13716000">
                  <a:moveTo>
                    <a:pt x="0" y="0"/>
                  </a:moveTo>
                  <a:lnTo>
                    <a:pt x="11684000" y="0"/>
                  </a:lnTo>
                  <a:lnTo>
                    <a:pt x="116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B2C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6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19186" y="1847067"/>
            <a:ext cx="8763001" cy="181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8"/>
              </a:lnSpc>
            </a:pPr>
            <a:r>
              <a:rPr lang="en-US" sz="72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Phân</a:t>
            </a:r>
            <a:r>
              <a:rPr lang="en-US" sz="72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tích</a:t>
            </a:r>
            <a:r>
              <a:rPr lang="en-US" sz="72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so </a:t>
            </a:r>
            <a:r>
              <a:rPr lang="en-US" sz="72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sánh</a:t>
            </a:r>
            <a:r>
              <a:rPr lang="en-US" sz="72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các</a:t>
            </a:r>
            <a:r>
              <a:rPr lang="en-US" sz="72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công</a:t>
            </a:r>
            <a:r>
              <a:rPr lang="en-US" sz="72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cụ</a:t>
            </a:r>
            <a:r>
              <a:rPr lang="en-US" sz="72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CNTT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19400" y="4337886"/>
            <a:ext cx="7620000" cy="37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1" dirty="0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ChatGPT · Gemini · Claude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6150050"/>
            <a:ext cx="3981450" cy="1093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Thành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viên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thực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hiện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:</a:t>
            </a:r>
          </a:p>
          <a:p>
            <a:pPr algn="l">
              <a:lnSpc>
                <a:spcPts val="2936"/>
              </a:lnSpc>
            </a:pP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Mã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Phúc Thành</a:t>
            </a:r>
          </a:p>
          <a:p>
            <a:pPr algn="l">
              <a:lnSpc>
                <a:spcPts val="2936"/>
              </a:lnSpc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Lê Tuấn Kha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A8BBC2"/>
                </a:solidFill>
                <a:latin typeface="IBM Plex Sans"/>
                <a:ea typeface="IBM Plex Sans"/>
                <a:cs typeface="IBM Plex Sans"/>
                <a:sym typeface="IBM Plex Sans"/>
              </a:rPr>
              <a:t>Nguồn định hướng: OpenAI (2026); Google (2026); Anthropic (2026).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8480E-CBFF-A3F0-803F-E444F4DE36D4}"/>
              </a:ext>
            </a:extLst>
          </p:cNvPr>
          <p:cNvSpPr txBox="1"/>
          <p:nvPr/>
        </p:nvSpPr>
        <p:spPr>
          <a:xfrm>
            <a:off x="5863866" y="6134974"/>
            <a:ext cx="3981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Viên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Bùi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Võ Quốc Bảo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FC8D5-6A1D-DA7F-F654-0DA1A9C6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51E2D0-51EB-E86A-DC79-9213576B43F4}"/>
              </a:ext>
            </a:extLst>
          </p:cNvPr>
          <p:cNvSpPr/>
          <p:nvPr/>
        </p:nvSpPr>
        <p:spPr>
          <a:xfrm>
            <a:off x="10096500" y="0"/>
            <a:ext cx="8191500" cy="10287000"/>
          </a:xfrm>
          <a:custGeom>
            <a:avLst/>
            <a:gdLst/>
            <a:ahLst/>
            <a:cxnLst/>
            <a:rect l="l" t="t" r="r" b="b"/>
            <a:pathLst>
              <a:path w="8191500" h="10287000">
                <a:moveTo>
                  <a:pt x="0" y="0"/>
                </a:moveTo>
                <a:lnTo>
                  <a:pt x="8191500" y="0"/>
                </a:lnTo>
                <a:lnTo>
                  <a:pt x="8191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" b="-8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290EE18-2F92-8C04-2A45-DF1FFCA24168}"/>
              </a:ext>
            </a:extLst>
          </p:cNvPr>
          <p:cNvGrpSpPr/>
          <p:nvPr/>
        </p:nvGrpSpPr>
        <p:grpSpPr>
          <a:xfrm>
            <a:off x="9525000" y="0"/>
            <a:ext cx="8763000" cy="10287000"/>
            <a:chOff x="0" y="0"/>
            <a:chExt cx="11684000" cy="13716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526F095-9BAA-86EC-6946-72D951907530}"/>
                </a:ext>
              </a:extLst>
            </p:cNvPr>
            <p:cNvSpPr/>
            <p:nvPr/>
          </p:nvSpPr>
          <p:spPr>
            <a:xfrm>
              <a:off x="0" y="0"/>
              <a:ext cx="11684000" cy="13716000"/>
            </a:xfrm>
            <a:custGeom>
              <a:avLst/>
              <a:gdLst/>
              <a:ahLst/>
              <a:cxnLst/>
              <a:rect l="l" t="t" r="r" b="b"/>
              <a:pathLst>
                <a:path w="11684000" h="13716000">
                  <a:moveTo>
                    <a:pt x="0" y="0"/>
                  </a:moveTo>
                  <a:lnTo>
                    <a:pt x="11684000" y="0"/>
                  </a:lnTo>
                  <a:lnTo>
                    <a:pt x="116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B2C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28BDAB7-2855-6146-B991-7DC2CF5ECA2F}"/>
                </a:ext>
              </a:extLst>
            </p:cNvPr>
            <p:cNvSpPr txBox="1"/>
            <p:nvPr/>
          </p:nvSpPr>
          <p:spPr>
            <a:xfrm>
              <a:off x="0" y="-38100"/>
              <a:ext cx="116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F4C6F56-DABD-0D15-B40E-97486D62236A}"/>
              </a:ext>
            </a:extLst>
          </p:cNvPr>
          <p:cNvSpPr txBox="1"/>
          <p:nvPr/>
        </p:nvSpPr>
        <p:spPr>
          <a:xfrm>
            <a:off x="1333500" y="1445995"/>
            <a:ext cx="7810500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8"/>
              </a:lnSpc>
            </a:pPr>
            <a:r>
              <a:rPr lang="en-US" sz="66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Phân</a:t>
            </a:r>
            <a:r>
              <a:rPr lang="en-US" sz="66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tích</a:t>
            </a:r>
            <a:r>
              <a:rPr lang="en-US" sz="66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so </a:t>
            </a:r>
            <a:r>
              <a:rPr lang="en-US" sz="66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sánh</a:t>
            </a:r>
            <a:r>
              <a:rPr lang="en-US" sz="66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các</a:t>
            </a:r>
            <a:r>
              <a:rPr lang="en-US" sz="66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công</a:t>
            </a:r>
            <a:r>
              <a:rPr lang="en-US" sz="66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cụ</a:t>
            </a:r>
            <a:r>
              <a:rPr lang="en-US" sz="66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CNTT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F93D01B-E8BF-4583-FACC-DA28DFF96800}"/>
              </a:ext>
            </a:extLst>
          </p:cNvPr>
          <p:cNvSpPr txBox="1"/>
          <p:nvPr/>
        </p:nvSpPr>
        <p:spPr>
          <a:xfrm>
            <a:off x="2286000" y="3493769"/>
            <a:ext cx="7620000" cy="37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1" dirty="0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ChatGPT · Gemini · Claude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46A51B6-58C1-ABA4-F30F-273887EAA2ED}"/>
              </a:ext>
            </a:extLst>
          </p:cNvPr>
          <p:cNvSpPr txBox="1"/>
          <p:nvPr/>
        </p:nvSpPr>
        <p:spPr>
          <a:xfrm>
            <a:off x="762000" y="4835804"/>
            <a:ext cx="7810500" cy="111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Mục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tiêu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: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đối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chiếu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năng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lực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nội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dung,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lập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trình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hệ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sinh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thái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quyền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riêng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tư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và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chi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phí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—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để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trả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lời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: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công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cụ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nào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phù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hợp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với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nhu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cầu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nào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BM Plex Sans"/>
                <a:cs typeface="Times New Roman" panose="02020603050405020304" pitchFamily="18" charset="0"/>
                <a:sym typeface="IBM Plex Sans"/>
              </a:rPr>
              <a:t>?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D3B3C8A-4102-259C-C1ED-4C36900C727C}"/>
              </a:ext>
            </a:extLst>
          </p:cNvPr>
          <p:cNvSpPr txBox="1"/>
          <p:nvPr/>
        </p:nvSpPr>
        <p:spPr>
          <a:xfrm>
            <a:off x="1055124" y="7779557"/>
            <a:ext cx="809625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2000" b="1" dirty="0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PHẠM VI  •  </a:t>
            </a:r>
            <a:r>
              <a:rPr lang="en-US" sz="2000" b="1" dirty="0" err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thông</a:t>
            </a:r>
            <a:r>
              <a:rPr lang="en-US" sz="2000" b="1" dirty="0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tin </a:t>
            </a:r>
            <a:r>
              <a:rPr lang="en-US" sz="2000" b="1" dirty="0" err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cần</a:t>
            </a:r>
            <a:r>
              <a:rPr lang="en-US" sz="2000" b="1" dirty="0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000" b="1" dirty="0" err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được</a:t>
            </a:r>
            <a:r>
              <a:rPr lang="en-US" sz="2000" b="1" dirty="0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000" b="1" dirty="0" err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xác</a:t>
            </a:r>
            <a:r>
              <a:rPr lang="en-US" sz="2000" b="1" dirty="0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000" b="1" dirty="0" err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minh</a:t>
            </a:r>
            <a:r>
              <a:rPr lang="en-US" sz="2000" b="1" dirty="0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000" b="1" dirty="0" err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tại</a:t>
            </a:r>
            <a:r>
              <a:rPr lang="en-US" sz="2000" b="1" dirty="0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000" b="1" dirty="0" err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mốc</a:t>
            </a:r>
            <a:r>
              <a:rPr lang="en-US" sz="2000" b="1" dirty="0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16/10/2026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EFACE58-A765-16C5-9D4D-BE650E81621C}"/>
              </a:ext>
            </a:extLst>
          </p:cNvPr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A8BBC2"/>
                </a:solidFill>
                <a:latin typeface="IBM Plex Sans"/>
                <a:ea typeface="IBM Plex Sans"/>
                <a:cs typeface="IBM Plex Sans"/>
                <a:sym typeface="IBM Plex Sans"/>
              </a:rPr>
              <a:t>Nguồn định hướng: OpenAI (2026); Google (2026); Anthropic (2026).</a:t>
            </a:r>
          </a:p>
        </p:txBody>
      </p:sp>
    </p:spTree>
    <p:extLst>
      <p:ext uri="{BB962C8B-B14F-4D97-AF65-F5344CB8AC3E}">
        <p14:creationId xmlns:p14="http://schemas.microsoft.com/office/powerpoint/2010/main" val="211771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Chatbot AI không ‘biết’ như con người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5626" y="2366962"/>
            <a:ext cx="2857500" cy="1809750"/>
            <a:chOff x="0" y="0"/>
            <a:chExt cx="3810000" cy="241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00" cy="2413000"/>
            </a:xfrm>
            <a:custGeom>
              <a:avLst/>
              <a:gdLst/>
              <a:ahLst/>
              <a:cxnLst/>
              <a:rect l="l" t="t" r="r" b="b"/>
              <a:pathLst>
                <a:path w="3810000" h="2413000">
                  <a:moveTo>
                    <a:pt x="0" y="0"/>
                  </a:moveTo>
                  <a:lnTo>
                    <a:pt x="3810000" y="0"/>
                  </a:lnTo>
                  <a:lnTo>
                    <a:pt x="3810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810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0" y="2381250"/>
            <a:ext cx="2857500" cy="1809750"/>
            <a:chOff x="0" y="0"/>
            <a:chExt cx="3810000" cy="2413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00" cy="2413000"/>
            </a:xfrm>
            <a:custGeom>
              <a:avLst/>
              <a:gdLst/>
              <a:ahLst/>
              <a:cxnLst/>
              <a:rect l="l" t="t" r="r" b="b"/>
              <a:pathLst>
                <a:path w="3810000" h="2413000">
                  <a:moveTo>
                    <a:pt x="0" y="0"/>
                  </a:moveTo>
                  <a:lnTo>
                    <a:pt x="3810000" y="0"/>
                  </a:lnTo>
                  <a:lnTo>
                    <a:pt x="3810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DFF7F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810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92000" y="2381250"/>
            <a:ext cx="3429000" cy="1809750"/>
            <a:chOff x="0" y="0"/>
            <a:chExt cx="4572000" cy="2413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72000" cy="2413000"/>
            </a:xfrm>
            <a:custGeom>
              <a:avLst/>
              <a:gdLst/>
              <a:ahLst/>
              <a:cxnLst/>
              <a:rect l="l" t="t" r="r" b="b"/>
              <a:pathLst>
                <a:path w="4572000" h="2413000">
                  <a:moveTo>
                    <a:pt x="0" y="0"/>
                  </a:moveTo>
                  <a:lnTo>
                    <a:pt x="4572000" y="0"/>
                  </a:lnTo>
                  <a:lnTo>
                    <a:pt x="4572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572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4238625" y="3286125"/>
            <a:ext cx="2190750" cy="0"/>
          </a:xfrm>
          <a:prstGeom prst="line">
            <a:avLst/>
          </a:prstGeom>
          <a:ln w="47625" cap="rnd">
            <a:solidFill>
              <a:srgbClr val="FF8A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9763125" y="3286125"/>
            <a:ext cx="2190750" cy="0"/>
          </a:xfrm>
          <a:prstGeom prst="line">
            <a:avLst/>
          </a:prstGeom>
          <a:ln w="47625" cap="rnd">
            <a:solidFill>
              <a:srgbClr val="FF8A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114425" y="3131343"/>
            <a:ext cx="2857500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DỮ LIỆU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0900" y="2964060"/>
            <a:ext cx="17907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Mô</a:t>
            </a:r>
            <a:r>
              <a:rPr lang="en-US" sz="22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2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hình</a:t>
            </a:r>
            <a:r>
              <a:rPr lang="en-US" sz="22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2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ngôn</a:t>
            </a:r>
            <a:r>
              <a:rPr lang="en-US" sz="22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2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ngữ</a:t>
            </a:r>
            <a:r>
              <a:rPr lang="en-US" sz="22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2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lớn</a:t>
            </a:r>
            <a:endParaRPr lang="en-US" sz="2250" b="1" dirty="0">
              <a:solidFill>
                <a:srgbClr val="132B3A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231329" y="3171948"/>
            <a:ext cx="3429000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PHẢN HỒI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0625" y="4924425"/>
            <a:ext cx="2762250" cy="31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600">
                <a:latin typeface="IBM Plex Sans"/>
                <a:ea typeface="IBM Plex Sans"/>
                <a:cs typeface="IBM Plex Sans"/>
                <a:sym typeface="IBM Plex Sans"/>
              </a:rPr>
              <a:t>Học mẫu ngôn ngữ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57925" y="4762343"/>
            <a:ext cx="3867150" cy="623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600">
                <a:latin typeface="IBM Plex Sans"/>
                <a:ea typeface="IBM Plex Sans"/>
                <a:cs typeface="IBM Plex Sans"/>
                <a:sym typeface="IBM Plex Sans"/>
              </a:rPr>
              <a:t>Dự đoán token tiếp theo</a:t>
            </a:r>
          </a:p>
          <a:p>
            <a:pPr algn="ctr">
              <a:lnSpc>
                <a:spcPts val="2430"/>
              </a:lnSpc>
            </a:pPr>
            <a:r>
              <a:rPr lang="en-US" sz="2600">
                <a:latin typeface="IBM Plex Sans"/>
                <a:ea typeface="IBM Plex Sans"/>
                <a:cs typeface="IBM Plex Sans"/>
                <a:sym typeface="IBM Plex Sans"/>
              </a:rPr>
              <a:t>theo xác suất + ngữ cảnh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82500" y="4924425"/>
            <a:ext cx="3048000" cy="62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600">
                <a:latin typeface="IBM Plex Sans"/>
                <a:ea typeface="IBM Plex Sans"/>
                <a:cs typeface="IBM Plex Sans"/>
                <a:sym typeface="IBM Plex Sans"/>
              </a:rPr>
              <a:t>Sinh văn bản tự nhiên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809750" y="6810375"/>
            <a:ext cx="14668500" cy="1809750"/>
            <a:chOff x="0" y="0"/>
            <a:chExt cx="19558000" cy="241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558000" cy="2413000"/>
            </a:xfrm>
            <a:custGeom>
              <a:avLst/>
              <a:gdLst/>
              <a:ahLst/>
              <a:cxnLst/>
              <a:rect l="l" t="t" r="r" b="b"/>
              <a:pathLst>
                <a:path w="19558000" h="2413000">
                  <a:moveTo>
                    <a:pt x="0" y="0"/>
                  </a:moveTo>
                  <a:lnTo>
                    <a:pt x="19558000" y="0"/>
                  </a:lnTo>
                  <a:lnTo>
                    <a:pt x="19558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9558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286000" y="7374854"/>
            <a:ext cx="13716000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7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GIỚI HẠN CỐT LÕI  —  Hallucination: câu trả lời có thể trôi chảy nhưng sai. Luôn kiểm chứng nguồn, số liệu và trích dẫn.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 dirty="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(Vaswani et al., 2017; OpenAI, 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 lớp — ba vai trò khác nhau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2238375"/>
            <a:ext cx="4667250" cy="3143250"/>
            <a:chOff x="0" y="0"/>
            <a:chExt cx="6223000" cy="419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23000" cy="4191000"/>
            </a:xfrm>
            <a:custGeom>
              <a:avLst/>
              <a:gdLst/>
              <a:ahLst/>
              <a:cxnLst/>
              <a:rect l="l" t="t" r="r" b="b"/>
              <a:pathLst>
                <a:path w="6223000" h="4191000">
                  <a:moveTo>
                    <a:pt x="0" y="0"/>
                  </a:moveTo>
                  <a:lnTo>
                    <a:pt x="6223000" y="0"/>
                  </a:lnTo>
                  <a:lnTo>
                    <a:pt x="6223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223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10375" y="2238375"/>
            <a:ext cx="4667250" cy="3143250"/>
            <a:chOff x="0" y="0"/>
            <a:chExt cx="6223000" cy="419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23000" cy="4191000"/>
            </a:xfrm>
            <a:custGeom>
              <a:avLst/>
              <a:gdLst/>
              <a:ahLst/>
              <a:cxnLst/>
              <a:rect l="l" t="t" r="r" b="b"/>
              <a:pathLst>
                <a:path w="6223000" h="4191000">
                  <a:moveTo>
                    <a:pt x="0" y="0"/>
                  </a:moveTo>
                  <a:lnTo>
                    <a:pt x="6223000" y="0"/>
                  </a:lnTo>
                  <a:lnTo>
                    <a:pt x="6223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DFF7F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223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77750" y="2238375"/>
            <a:ext cx="4667250" cy="3143250"/>
            <a:chOff x="0" y="0"/>
            <a:chExt cx="6223000" cy="4191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23000" cy="4191000"/>
            </a:xfrm>
            <a:custGeom>
              <a:avLst/>
              <a:gdLst/>
              <a:ahLst/>
              <a:cxnLst/>
              <a:rect l="l" t="t" r="r" b="b"/>
              <a:pathLst>
                <a:path w="6223000" h="4191000">
                  <a:moveTo>
                    <a:pt x="0" y="0"/>
                  </a:moveTo>
                  <a:lnTo>
                    <a:pt x="6223000" y="0"/>
                  </a:lnTo>
                  <a:lnTo>
                    <a:pt x="6223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4B78D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223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5905500" y="3810000"/>
            <a:ext cx="762000" cy="0"/>
          </a:xfrm>
          <a:prstGeom prst="line">
            <a:avLst/>
          </a:prstGeom>
          <a:ln w="57150" cap="flat">
            <a:solidFill>
              <a:srgbClr val="FF8A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1572875" y="3810000"/>
            <a:ext cx="762000" cy="0"/>
          </a:xfrm>
          <a:prstGeom prst="line">
            <a:avLst/>
          </a:prstGeom>
          <a:ln w="57150" cap="flat">
            <a:solidFill>
              <a:srgbClr val="FF8A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428750" y="2864642"/>
            <a:ext cx="4095750" cy="37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2"/>
              </a:lnSpc>
            </a:pPr>
            <a:r>
              <a:rPr lang="en-US" sz="28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MÔ HÌNH 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09750" y="3916680"/>
            <a:ext cx="3333750" cy="64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Nền tảng tổng quát</a:t>
            </a:r>
          </a:p>
          <a:p>
            <a:pPr algn="ctr">
              <a:lnSpc>
                <a:spcPts val="2531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học mẫu và suy luận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96125" y="2864642"/>
            <a:ext cx="4095750" cy="37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2"/>
              </a:lnSpc>
            </a:pPr>
            <a:r>
              <a:rPr lang="en-US" sz="285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ỨNG DỤNG CHATBOT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77125" y="3939799"/>
            <a:ext cx="3333750" cy="64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5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Giao diện hội thoại</a:t>
            </a:r>
          </a:p>
          <a:p>
            <a:pPr algn="ctr">
              <a:lnSpc>
                <a:spcPts val="2531"/>
              </a:lnSpc>
            </a:pPr>
            <a:r>
              <a:rPr lang="en-US" sz="25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điều phối công cụ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00371" y="2835633"/>
            <a:ext cx="4095750" cy="37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2"/>
              </a:lnSpc>
            </a:pPr>
            <a:r>
              <a:rPr lang="en-US" sz="28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TÌM KIẾM / DỮ LIỆU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51874" y="3936248"/>
            <a:ext cx="3333750" cy="64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Truy xuất web hoặc</a:t>
            </a:r>
          </a:p>
          <a:p>
            <a:pPr algn="ctr">
              <a:lnSpc>
                <a:spcPts val="2531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nguồn có cấu trúc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57425" y="6926098"/>
            <a:ext cx="13773150" cy="719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8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Luồng điển hình: mô hình tạo sinh → chatbot tổ chức tương tác → công cụ tìm kiếm cung cấp bằng chứng cập nhật.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(Google, 2026; OpenAI, 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ChatGPT — từ sản phẩm đến họ mô hình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714500" y="5143500"/>
            <a:ext cx="14859000" cy="0"/>
          </a:xfrm>
          <a:prstGeom prst="line">
            <a:avLst/>
          </a:prstGeom>
          <a:ln w="47625" cap="rnd">
            <a:solidFill>
              <a:srgbClr val="39D6C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543050" y="4972050"/>
            <a:ext cx="342900" cy="342900"/>
            <a:chOff x="0" y="0"/>
            <a:chExt cx="457200" cy="457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9D6C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96050" y="4972050"/>
            <a:ext cx="342900" cy="342900"/>
            <a:chOff x="0" y="0"/>
            <a:chExt cx="4572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9D6C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49050" y="4972050"/>
            <a:ext cx="342900" cy="342900"/>
            <a:chOff x="0" y="0"/>
            <a:chExt cx="457200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9D6C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02050" y="4972050"/>
            <a:ext cx="342900" cy="342900"/>
            <a:chOff x="0" y="0"/>
            <a:chExt cx="457200" cy="457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76250" y="4067175"/>
            <a:ext cx="2476500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600" b="1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30.11.2022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5750" y="5695950"/>
            <a:ext cx="2857500" cy="28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8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ChatGPT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750" y="6124575"/>
            <a:ext cx="2857500" cy="53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>
                <a:solidFill>
                  <a:srgbClr val="B9C8CD"/>
                </a:solidFill>
                <a:latin typeface="IBM Plex Sans"/>
                <a:ea typeface="IBM Plex Sans"/>
                <a:cs typeface="IBM Plex Sans"/>
                <a:sym typeface="IBM Plex Sans"/>
              </a:rPr>
              <a:t>Sản phẩm hội thoại ra mắt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29250" y="4067175"/>
            <a:ext cx="2476500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600" b="1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03.2023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38750" y="5695950"/>
            <a:ext cx="2857500" cy="28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8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GPT‑4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38750" y="6124575"/>
            <a:ext cx="2857500" cy="53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>
                <a:solidFill>
                  <a:srgbClr val="B9C8CD"/>
                </a:solidFill>
                <a:latin typeface="IBM Plex Sans"/>
                <a:ea typeface="IBM Plex Sans"/>
                <a:cs typeface="IBM Plex Sans"/>
                <a:sym typeface="IBM Plex Sans"/>
              </a:rPr>
              <a:t>Mốc mô hình nền tảng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82250" y="4067175"/>
            <a:ext cx="2476500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600" b="1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07.2024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91750" y="5695950"/>
            <a:ext cx="2857500" cy="28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8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GPT‑4o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91750" y="6124575"/>
            <a:ext cx="2857500" cy="53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>
                <a:solidFill>
                  <a:srgbClr val="B9C8CD"/>
                </a:solidFill>
                <a:latin typeface="IBM Plex Sans"/>
                <a:ea typeface="IBM Plex Sans"/>
                <a:cs typeface="IBM Plex Sans"/>
                <a:sym typeface="IBM Plex Sans"/>
              </a:rPr>
              <a:t>Năng lực đa phương thức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335250" y="4067175"/>
            <a:ext cx="2476500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600" b="1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2025–2026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859000" y="5695950"/>
            <a:ext cx="3143250" cy="280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8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Cập nhật liên tục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859000" y="6124575"/>
            <a:ext cx="3143250" cy="530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>
                <a:solidFill>
                  <a:srgbClr val="B9C8CD"/>
                </a:solidFill>
                <a:latin typeface="IBM Plex Sans"/>
                <a:ea typeface="IBM Plex Sans"/>
                <a:cs typeface="IBM Plex Sans"/>
                <a:sym typeface="IBM Plex Sans"/>
              </a:rPr>
              <a:t>Tên model, gói và tính năng có thể đổi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A8BBC2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OpenAI (2022, 2023, 2024); The Verge (2023). Phân biệt rõ mốc sản phẩm và mốc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Gemini — từ Bard đến hệ sinh thái đa phương thức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714500" y="5143500"/>
            <a:ext cx="14859000" cy="0"/>
          </a:xfrm>
          <a:prstGeom prst="line">
            <a:avLst/>
          </a:prstGeom>
          <a:ln w="47625" cap="rnd">
            <a:solidFill>
              <a:srgbClr val="132B3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543050" y="4972050"/>
            <a:ext cx="342900" cy="342900"/>
            <a:chOff x="0" y="0"/>
            <a:chExt cx="457200" cy="457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9D6C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96050" y="4972050"/>
            <a:ext cx="342900" cy="342900"/>
            <a:chOff x="0" y="0"/>
            <a:chExt cx="4572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9D6C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49050" y="4972050"/>
            <a:ext cx="342900" cy="342900"/>
            <a:chOff x="0" y="0"/>
            <a:chExt cx="457200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9D6C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02050" y="4972050"/>
            <a:ext cx="342900" cy="342900"/>
            <a:chOff x="0" y="0"/>
            <a:chExt cx="457200" cy="457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76250" y="4067175"/>
            <a:ext cx="2476500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600" b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2023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5750" y="5695950"/>
            <a:ext cx="2857500" cy="28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80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750" y="6124575"/>
            <a:ext cx="2857500" cy="526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40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Dịch vụ hội thoại thử nghiệm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29250" y="4067175"/>
            <a:ext cx="2476500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600" b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08.02.2024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38750" y="5695950"/>
            <a:ext cx="2857500" cy="28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80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Đổi tên Gemini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38750" y="6124575"/>
            <a:ext cx="2857500" cy="526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40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Hợp nhất thương hiệu sản phẩm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82250" y="4067175"/>
            <a:ext cx="2476500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600" b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2024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91750" y="5695950"/>
            <a:ext cx="2857500" cy="28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80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Gemini 1.5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91750" y="6124575"/>
            <a:ext cx="2857500" cy="526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40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Nhấn mạnh ngữ cảnh dài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335250" y="4067175"/>
            <a:ext cx="2476500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600" b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2025–2026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144750" y="5695950"/>
            <a:ext cx="2857500" cy="28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80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Gemini</a:t>
            </a:r>
            <a:r>
              <a:rPr lang="en-US" sz="2025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2.x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144750" y="6124575"/>
            <a:ext cx="2857500" cy="526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40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Cần xác minh phiên bản tại ngày truy cập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Google (2024, 2025); TechCrunch (2025). Cập nhật đến 18/10/2026 cần đối chiếu trang chính thức.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Claude — an toàn hữu ích là trục phát triển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714500" y="5143500"/>
            <a:ext cx="14859000" cy="0"/>
          </a:xfrm>
          <a:prstGeom prst="line">
            <a:avLst/>
          </a:prstGeom>
          <a:ln w="47625" cap="rnd">
            <a:solidFill>
              <a:srgbClr val="39D6C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543050" y="4972050"/>
            <a:ext cx="342900" cy="342900"/>
            <a:chOff x="0" y="0"/>
            <a:chExt cx="457200" cy="457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9D6C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96050" y="4972050"/>
            <a:ext cx="342900" cy="342900"/>
            <a:chOff x="0" y="0"/>
            <a:chExt cx="4572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9D6C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49050" y="4972050"/>
            <a:ext cx="342900" cy="342900"/>
            <a:chOff x="0" y="0"/>
            <a:chExt cx="457200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9D6C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02050" y="4972050"/>
            <a:ext cx="342900" cy="342900"/>
            <a:chOff x="0" y="0"/>
            <a:chExt cx="457200" cy="457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76250" y="4067175"/>
            <a:ext cx="2476500" cy="25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800" b="1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14.03.2023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5750" y="5695950"/>
            <a:ext cx="2857500" cy="27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5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Claude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750" y="6124575"/>
            <a:ext cx="2857500" cy="27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400">
                <a:solidFill>
                  <a:srgbClr val="B9C8CD"/>
                </a:solidFill>
                <a:latin typeface="IBM Plex Sans"/>
                <a:ea typeface="IBM Plex Sans"/>
                <a:cs typeface="IBM Plex Sans"/>
                <a:sym typeface="IBM Plex Sans"/>
              </a:rPr>
              <a:t>Giới thiệu rộng rãi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29250" y="4067175"/>
            <a:ext cx="2476500" cy="25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800" b="1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07.2023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38750" y="5695950"/>
            <a:ext cx="2857500" cy="27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5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Claude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38750" y="6124575"/>
            <a:ext cx="2857500" cy="526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400">
                <a:solidFill>
                  <a:srgbClr val="B9C8CD"/>
                </a:solidFill>
                <a:latin typeface="IBM Plex Sans"/>
                <a:ea typeface="IBM Plex Sans"/>
                <a:cs typeface="IBM Plex Sans"/>
                <a:sym typeface="IBM Plex Sans"/>
              </a:rPr>
              <a:t>Nâng cấp năng lực và ngữ cảnh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82250" y="4067175"/>
            <a:ext cx="2476500" cy="25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800" b="1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03.2024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91750" y="5695950"/>
            <a:ext cx="2857500" cy="27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5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Claude 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91750" y="6124575"/>
            <a:ext cx="2857500" cy="27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400">
                <a:solidFill>
                  <a:srgbClr val="B9C8CD"/>
                </a:solidFill>
                <a:latin typeface="IBM Plex Sans"/>
                <a:ea typeface="IBM Plex Sans"/>
                <a:cs typeface="IBM Plex Sans"/>
                <a:sym typeface="IBM Plex Sans"/>
              </a:rPr>
              <a:t>Họ mô hình đa cấp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335250" y="4067175"/>
            <a:ext cx="2476500" cy="25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"/>
              </a:lnSpc>
            </a:pPr>
            <a:r>
              <a:rPr lang="en-US" sz="2800" b="1">
                <a:solidFill>
                  <a:srgbClr val="39D6C8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2024–2026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144750" y="5695950"/>
            <a:ext cx="2857500" cy="27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5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Claude 3.5+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144750" y="6124575"/>
            <a:ext cx="2857500" cy="78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400">
                <a:solidFill>
                  <a:srgbClr val="B9C8CD"/>
                </a:solidFill>
                <a:latin typeface="IBM Plex Sans"/>
                <a:ea typeface="IBM Plex Sans"/>
                <a:cs typeface="IBM Plex Sans"/>
                <a:sym typeface="IBM Plex Sans"/>
              </a:rPr>
              <a:t>Cập nhật nhanh; luôn kiểm tra model đang dùng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A8BBC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Anthropic (2023, 2024, 2025); Wired (2024).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Thế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nào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là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so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sánh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khách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quan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81750" y="3429000"/>
            <a:ext cx="5524500" cy="2286000"/>
            <a:chOff x="0" y="0"/>
            <a:chExt cx="7366000" cy="3048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66000" cy="3048000"/>
            </a:xfrm>
            <a:custGeom>
              <a:avLst/>
              <a:gdLst/>
              <a:ahLst/>
              <a:cxnLst/>
              <a:rect l="l" t="t" r="r" b="b"/>
              <a:pathLst>
                <a:path w="7366000" h="3048000">
                  <a:moveTo>
                    <a:pt x="0" y="0"/>
                  </a:moveTo>
                  <a:lnTo>
                    <a:pt x="7366000" y="0"/>
                  </a:lnTo>
                  <a:lnTo>
                    <a:pt x="736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36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190750"/>
            <a:ext cx="2857500" cy="1047750"/>
            <a:chOff x="0" y="0"/>
            <a:chExt cx="3810000" cy="1397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00" cy="1397000"/>
            </a:xfrm>
            <a:custGeom>
              <a:avLst/>
              <a:gdLst/>
              <a:ahLst/>
              <a:cxnLst/>
              <a:rect l="l" t="t" r="r" b="b"/>
              <a:pathLst>
                <a:path w="3810000" h="1397000">
                  <a:moveTo>
                    <a:pt x="0" y="0"/>
                  </a:moveTo>
                  <a:lnTo>
                    <a:pt x="3810000" y="0"/>
                  </a:lnTo>
                  <a:lnTo>
                    <a:pt x="3810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43000" y="2600325"/>
            <a:ext cx="2857500" cy="25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NỘI DUNG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476750" y="5143500"/>
            <a:ext cx="2857500" cy="1047750"/>
            <a:chOff x="0" y="0"/>
            <a:chExt cx="3810000" cy="139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00" cy="1397000"/>
            </a:xfrm>
            <a:custGeom>
              <a:avLst/>
              <a:gdLst/>
              <a:ahLst/>
              <a:cxnLst/>
              <a:rect l="l" t="t" r="r" b="b"/>
              <a:pathLst>
                <a:path w="3810000" h="1397000">
                  <a:moveTo>
                    <a:pt x="0" y="0"/>
                  </a:moveTo>
                  <a:lnTo>
                    <a:pt x="3810000" y="0"/>
                  </a:lnTo>
                  <a:lnTo>
                    <a:pt x="3810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476750" y="5553075"/>
            <a:ext cx="2857500" cy="25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LẬP TRÌNH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810500" y="2190750"/>
            <a:ext cx="2857500" cy="1047750"/>
            <a:chOff x="0" y="0"/>
            <a:chExt cx="3810000" cy="1397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10000" cy="1397000"/>
            </a:xfrm>
            <a:custGeom>
              <a:avLst/>
              <a:gdLst/>
              <a:ahLst/>
              <a:cxnLst/>
              <a:rect l="l" t="t" r="r" b="b"/>
              <a:pathLst>
                <a:path w="3810000" h="1397000">
                  <a:moveTo>
                    <a:pt x="0" y="0"/>
                  </a:moveTo>
                  <a:lnTo>
                    <a:pt x="3810000" y="0"/>
                  </a:lnTo>
                  <a:lnTo>
                    <a:pt x="3810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DFF7F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810500" y="2600325"/>
            <a:ext cx="2857500" cy="25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NGỮ CẢNH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144250" y="5143500"/>
            <a:ext cx="2857500" cy="1047750"/>
            <a:chOff x="0" y="0"/>
            <a:chExt cx="3810000" cy="1397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10000" cy="1397000"/>
            </a:xfrm>
            <a:custGeom>
              <a:avLst/>
              <a:gdLst/>
              <a:ahLst/>
              <a:cxnLst/>
              <a:rect l="l" t="t" r="r" b="b"/>
              <a:pathLst>
                <a:path w="3810000" h="1397000">
                  <a:moveTo>
                    <a:pt x="0" y="0"/>
                  </a:moveTo>
                  <a:lnTo>
                    <a:pt x="3810000" y="0"/>
                  </a:lnTo>
                  <a:lnTo>
                    <a:pt x="3810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144250" y="5553075"/>
            <a:ext cx="2857500" cy="25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RIÊNG TƯ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478000" y="2190750"/>
            <a:ext cx="2857500" cy="1047750"/>
            <a:chOff x="0" y="0"/>
            <a:chExt cx="3810000" cy="1397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10000" cy="1397000"/>
            </a:xfrm>
            <a:custGeom>
              <a:avLst/>
              <a:gdLst/>
              <a:ahLst/>
              <a:cxnLst/>
              <a:rect l="l" t="t" r="r" b="b"/>
              <a:pathLst>
                <a:path w="3810000" h="1397000">
                  <a:moveTo>
                    <a:pt x="0" y="0"/>
                  </a:moveTo>
                  <a:lnTo>
                    <a:pt x="3810000" y="0"/>
                  </a:lnTo>
                  <a:lnTo>
                    <a:pt x="3810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4478000" y="2600325"/>
            <a:ext cx="2857500" cy="25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GIÁ / GÓI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7500" y="4143375"/>
            <a:ext cx="4953000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TỔNG HỢP</a:t>
            </a:r>
          </a:p>
          <a:p>
            <a:pPr algn="ctr">
              <a:lnSpc>
                <a:spcPts val="3465"/>
              </a:lnSpc>
            </a:pPr>
            <a:r>
              <a:rPr lang="en-US" sz="33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BẰNG CHỨNG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67000" y="7772400"/>
            <a:ext cx="12954000" cy="73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Nguyên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tắc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: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tài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liệu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chính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thức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+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thử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nghiệm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độc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lập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+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ghi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rõ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phiên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bản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gói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.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Không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suy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rộng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từ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một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bài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test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đơn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lẻ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Khung tổng hợp từ OpenAI, Google, Anthropic và nghiên cứu độc lập; phiên bản là biến kiểm soát.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FEE3E-A86D-FD6A-6500-EC625F1E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E3389BC-A2B4-8CBD-B313-73BFF1192494}"/>
              </a:ext>
            </a:extLst>
          </p:cNvPr>
          <p:cNvSpPr txBox="1"/>
          <p:nvPr/>
        </p:nvSpPr>
        <p:spPr>
          <a:xfrm>
            <a:off x="1047750" y="685800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Thế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nào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là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so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sánh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khách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435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quan</a:t>
            </a:r>
            <a:r>
              <a:rPr lang="en-US" sz="435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?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D1507D7-E304-793A-CEF5-83C8F0F83181}"/>
              </a:ext>
            </a:extLst>
          </p:cNvPr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C34B4D9-55A3-B260-261A-1E936F4933FB}"/>
                </a:ext>
              </a:extLst>
            </p:cNvPr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3F06B58-765E-356F-55C3-284D14A87D5A}"/>
                </a:ext>
              </a:extLst>
            </p:cNvPr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6C47BA80-CD46-8C20-E7A8-CB9AEB8CEC21}"/>
              </a:ext>
            </a:extLst>
          </p:cNvPr>
          <p:cNvSpPr txBox="1"/>
          <p:nvPr/>
        </p:nvSpPr>
        <p:spPr>
          <a:xfrm>
            <a:off x="2667000" y="7772400"/>
            <a:ext cx="12954000" cy="73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Nguyên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tắc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: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tài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liệu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chính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thức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+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thử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nghiệm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độc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lập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+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ghi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rõ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phiên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bản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gói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.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Không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suy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rộng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từ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một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bài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test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đơn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175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lẻ</a:t>
            </a:r>
            <a:r>
              <a:rPr lang="en-US" sz="2175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C3CA401-DD11-86B3-5B6C-FED1B741C132}"/>
              </a:ext>
            </a:extLst>
          </p:cNvPr>
          <p:cNvSpPr txBox="1"/>
          <p:nvPr/>
        </p:nvSpPr>
        <p:spPr>
          <a:xfrm>
            <a:off x="7351610" y="9182100"/>
            <a:ext cx="358478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/>
              <a:t>https://youtu.be/T1gfZjr8tO8</a:t>
            </a:r>
            <a:endParaRPr lang="en-US" sz="1700" dirty="0">
              <a:solidFill>
                <a:srgbClr val="6B7D8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2" name="Online Media 31" title="So sánh Chatbot AI Chatgpt, Gemini, Claude">
            <a:hlinkClick r:id="" action="ppaction://media"/>
            <a:extLst>
              <a:ext uri="{FF2B5EF4-FFF2-40B4-BE49-F238E27FC236}">
                <a16:creationId xmlns:a16="http://schemas.microsoft.com/office/drawing/2014/main" id="{BC554B43-C325-6266-29ED-F0769145424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47750" y="1701800"/>
            <a:ext cx="1632585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2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Năng lực nội dung: khác nhau ở cách tạo giá trị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047875"/>
            <a:ext cx="3905250" cy="952500"/>
            <a:chOff x="0" y="0"/>
            <a:chExt cx="5207000" cy="127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07000" cy="1270000"/>
            </a:xfrm>
            <a:custGeom>
              <a:avLst/>
              <a:gdLst/>
              <a:ahLst/>
              <a:cxnLst/>
              <a:rect l="l" t="t" r="r" b="b"/>
              <a:pathLst>
                <a:path w="5207000" h="1270000">
                  <a:moveTo>
                    <a:pt x="0" y="0"/>
                  </a:moveTo>
                  <a:lnTo>
                    <a:pt x="5207000" y="0"/>
                  </a:lnTo>
                  <a:lnTo>
                    <a:pt x="5207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207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8250" y="2362200"/>
            <a:ext cx="3524250" cy="25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TIÊU CHÍ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953000" y="2047875"/>
            <a:ext cx="4095750" cy="952500"/>
            <a:chOff x="0" y="0"/>
            <a:chExt cx="5461000" cy="127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61000" cy="1270000"/>
            </a:xfrm>
            <a:custGeom>
              <a:avLst/>
              <a:gdLst/>
              <a:ahLst/>
              <a:cxnLst/>
              <a:rect l="l" t="t" r="r" b="b"/>
              <a:pathLst>
                <a:path w="5461000" h="1270000">
                  <a:moveTo>
                    <a:pt x="0" y="0"/>
                  </a:moveTo>
                  <a:lnTo>
                    <a:pt x="5461000" y="0"/>
                  </a:lnTo>
                  <a:lnTo>
                    <a:pt x="5461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4B78D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461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143500" y="2362200"/>
            <a:ext cx="3714750" cy="25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CHATGPT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048750" y="2047875"/>
            <a:ext cx="4095750" cy="952500"/>
            <a:chOff x="0" y="0"/>
            <a:chExt cx="5461000" cy="127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61000" cy="1270000"/>
            </a:xfrm>
            <a:custGeom>
              <a:avLst/>
              <a:gdLst/>
              <a:ahLst/>
              <a:cxnLst/>
              <a:rect l="l" t="t" r="r" b="b"/>
              <a:pathLst>
                <a:path w="5461000" h="1270000">
                  <a:moveTo>
                    <a:pt x="0" y="0"/>
                  </a:moveTo>
                  <a:lnTo>
                    <a:pt x="5461000" y="0"/>
                  </a:lnTo>
                  <a:lnTo>
                    <a:pt x="5461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4B78D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61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239250" y="2362200"/>
            <a:ext cx="3714750" cy="25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GEMINI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144500" y="2047875"/>
            <a:ext cx="4095750" cy="952500"/>
            <a:chOff x="0" y="0"/>
            <a:chExt cx="5461000" cy="127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61000" cy="1270000"/>
            </a:xfrm>
            <a:custGeom>
              <a:avLst/>
              <a:gdLst/>
              <a:ahLst/>
              <a:cxnLst/>
              <a:rect l="l" t="t" r="r" b="b"/>
              <a:pathLst>
                <a:path w="5461000" h="1270000">
                  <a:moveTo>
                    <a:pt x="0" y="0"/>
                  </a:moveTo>
                  <a:lnTo>
                    <a:pt x="5461000" y="0"/>
                  </a:lnTo>
                  <a:lnTo>
                    <a:pt x="5461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4B78D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461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335000" y="2362200"/>
            <a:ext cx="3714750" cy="25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CLAUDE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47750" y="3143250"/>
            <a:ext cx="3905250" cy="1476375"/>
            <a:chOff x="0" y="0"/>
            <a:chExt cx="5207000" cy="1968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207000" cy="1968500"/>
            </a:xfrm>
            <a:custGeom>
              <a:avLst/>
              <a:gdLst/>
              <a:ahLst/>
              <a:cxnLst/>
              <a:rect l="l" t="t" r="r" b="b"/>
              <a:pathLst>
                <a:path w="5207000" h="1968500">
                  <a:moveTo>
                    <a:pt x="0" y="0"/>
                  </a:moveTo>
                  <a:lnTo>
                    <a:pt x="5207000" y="0"/>
                  </a:lnTo>
                  <a:lnTo>
                    <a:pt x="5207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8ED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207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76350" y="3543300"/>
            <a:ext cx="34480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Viết &amp; tóm tắt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953000" y="3143250"/>
            <a:ext cx="4095750" cy="1476375"/>
            <a:chOff x="0" y="0"/>
            <a:chExt cx="5461000" cy="1968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61000" cy="1968500"/>
            </a:xfrm>
            <a:custGeom>
              <a:avLst/>
              <a:gdLst/>
              <a:ahLst/>
              <a:cxnLst/>
              <a:rect l="l" t="t" r="r" b="b"/>
              <a:pathLst>
                <a:path w="5461000" h="1968500">
                  <a:moveTo>
                    <a:pt x="0" y="0"/>
                  </a:moveTo>
                  <a:lnTo>
                    <a:pt x="5461000" y="0"/>
                  </a:lnTo>
                  <a:lnTo>
                    <a:pt x="5461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8ED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461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181600" y="3543300"/>
            <a:ext cx="36385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Linh hoạt định dạng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048750" y="3143250"/>
            <a:ext cx="4095750" cy="1476375"/>
            <a:chOff x="0" y="0"/>
            <a:chExt cx="5461000" cy="19685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461000" cy="1968500"/>
            </a:xfrm>
            <a:custGeom>
              <a:avLst/>
              <a:gdLst/>
              <a:ahLst/>
              <a:cxnLst/>
              <a:rect l="l" t="t" r="r" b="b"/>
              <a:pathLst>
                <a:path w="5461000" h="1968500">
                  <a:moveTo>
                    <a:pt x="0" y="0"/>
                  </a:moveTo>
                  <a:lnTo>
                    <a:pt x="5461000" y="0"/>
                  </a:lnTo>
                  <a:lnTo>
                    <a:pt x="5461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8ED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461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277350" y="3543300"/>
            <a:ext cx="36385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Gắn tốt với nguồn web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144500" y="3143250"/>
            <a:ext cx="4095750" cy="1476375"/>
            <a:chOff x="0" y="0"/>
            <a:chExt cx="5461000" cy="19685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461000" cy="1968500"/>
            </a:xfrm>
            <a:custGeom>
              <a:avLst/>
              <a:gdLst/>
              <a:ahLst/>
              <a:cxnLst/>
              <a:rect l="l" t="t" r="r" b="b"/>
              <a:pathLst>
                <a:path w="5461000" h="1968500">
                  <a:moveTo>
                    <a:pt x="0" y="0"/>
                  </a:moveTo>
                  <a:lnTo>
                    <a:pt x="5461000" y="0"/>
                  </a:lnTo>
                  <a:lnTo>
                    <a:pt x="5461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8ED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461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3373100" y="3543300"/>
            <a:ext cx="36385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Mạch lạc với tài liệu dài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47750" y="4810125"/>
            <a:ext cx="3905250" cy="1476375"/>
            <a:chOff x="0" y="0"/>
            <a:chExt cx="5207000" cy="19685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207000" cy="1968500"/>
            </a:xfrm>
            <a:custGeom>
              <a:avLst/>
              <a:gdLst/>
              <a:ahLst/>
              <a:cxnLst/>
              <a:rect l="l" t="t" r="r" b="b"/>
              <a:pathLst>
                <a:path w="5207000" h="1968500">
                  <a:moveTo>
                    <a:pt x="0" y="0"/>
                  </a:moveTo>
                  <a:lnTo>
                    <a:pt x="5207000" y="0"/>
                  </a:lnTo>
                  <a:lnTo>
                    <a:pt x="5207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5207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276350" y="5210175"/>
            <a:ext cx="34480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Suy luận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953000" y="4810125"/>
            <a:ext cx="4095750" cy="1476375"/>
            <a:chOff x="0" y="0"/>
            <a:chExt cx="5461000" cy="19685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461000" cy="1968500"/>
            </a:xfrm>
            <a:custGeom>
              <a:avLst/>
              <a:gdLst/>
              <a:ahLst/>
              <a:cxnLst/>
              <a:rect l="l" t="t" r="r" b="b"/>
              <a:pathLst>
                <a:path w="5461000" h="1968500">
                  <a:moveTo>
                    <a:pt x="0" y="0"/>
                  </a:moveTo>
                  <a:lnTo>
                    <a:pt x="5461000" y="0"/>
                  </a:lnTo>
                  <a:lnTo>
                    <a:pt x="5461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5461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181600" y="5210175"/>
            <a:ext cx="36385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Mạnh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khi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đề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bài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rõ</a:t>
            </a:r>
            <a:endParaRPr lang="en-US" sz="2400" dirty="0">
              <a:solidFill>
                <a:srgbClr val="132B3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9048750" y="4810125"/>
            <a:ext cx="4095750" cy="1476375"/>
            <a:chOff x="0" y="0"/>
            <a:chExt cx="5461000" cy="19685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461000" cy="1968500"/>
            </a:xfrm>
            <a:custGeom>
              <a:avLst/>
              <a:gdLst/>
              <a:ahLst/>
              <a:cxnLst/>
              <a:rect l="l" t="t" r="r" b="b"/>
              <a:pathLst>
                <a:path w="5461000" h="1968500">
                  <a:moveTo>
                    <a:pt x="0" y="0"/>
                  </a:moveTo>
                  <a:lnTo>
                    <a:pt x="5461000" y="0"/>
                  </a:lnTo>
                  <a:lnTo>
                    <a:pt x="5461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5461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277350" y="5210175"/>
            <a:ext cx="3638550" cy="61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Hữu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ích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với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đa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phương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thức</a:t>
            </a:r>
            <a:endParaRPr lang="en-US" sz="2400" dirty="0">
              <a:solidFill>
                <a:srgbClr val="132B3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13144500" y="4810125"/>
            <a:ext cx="4095750" cy="1476375"/>
            <a:chOff x="0" y="0"/>
            <a:chExt cx="5461000" cy="19685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461000" cy="1968500"/>
            </a:xfrm>
            <a:custGeom>
              <a:avLst/>
              <a:gdLst/>
              <a:ahLst/>
              <a:cxnLst/>
              <a:rect l="l" t="t" r="r" b="b"/>
              <a:pathLst>
                <a:path w="5461000" h="1968500">
                  <a:moveTo>
                    <a:pt x="0" y="0"/>
                  </a:moveTo>
                  <a:lnTo>
                    <a:pt x="5461000" y="0"/>
                  </a:lnTo>
                  <a:lnTo>
                    <a:pt x="5461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5461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3373100" y="5210175"/>
            <a:ext cx="36385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Thận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trọng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có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cấu</a:t>
            </a:r>
            <a:r>
              <a:rPr lang="en-US" sz="24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4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trúc</a:t>
            </a:r>
            <a:endParaRPr lang="en-US" sz="2400" dirty="0">
              <a:solidFill>
                <a:srgbClr val="132B3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4" name="Group 54"/>
          <p:cNvGrpSpPr/>
          <p:nvPr/>
        </p:nvGrpSpPr>
        <p:grpSpPr>
          <a:xfrm>
            <a:off x="1047750" y="6477000"/>
            <a:ext cx="3905250" cy="1476375"/>
            <a:chOff x="0" y="0"/>
            <a:chExt cx="5207000" cy="19685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207000" cy="1968500"/>
            </a:xfrm>
            <a:custGeom>
              <a:avLst/>
              <a:gdLst/>
              <a:ahLst/>
              <a:cxnLst/>
              <a:rect l="l" t="t" r="r" b="b"/>
              <a:pathLst>
                <a:path w="5207000" h="1968500">
                  <a:moveTo>
                    <a:pt x="0" y="0"/>
                  </a:moveTo>
                  <a:lnTo>
                    <a:pt x="5207000" y="0"/>
                  </a:lnTo>
                  <a:lnTo>
                    <a:pt x="5207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8ED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5207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276350" y="6877050"/>
            <a:ext cx="34480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Thông tin mới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4953000" y="6477000"/>
            <a:ext cx="4095750" cy="1476375"/>
            <a:chOff x="0" y="0"/>
            <a:chExt cx="5461000" cy="19685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461000" cy="1968500"/>
            </a:xfrm>
            <a:custGeom>
              <a:avLst/>
              <a:gdLst/>
              <a:ahLst/>
              <a:cxnLst/>
              <a:rect l="l" t="t" r="r" b="b"/>
              <a:pathLst>
                <a:path w="5461000" h="1968500">
                  <a:moveTo>
                    <a:pt x="0" y="0"/>
                  </a:moveTo>
                  <a:lnTo>
                    <a:pt x="5461000" y="0"/>
                  </a:lnTo>
                  <a:lnTo>
                    <a:pt x="5461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8ED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5461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5181600" y="6877050"/>
            <a:ext cx="36385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Phụ thuộc chế độ duyệt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048750" y="6477000"/>
            <a:ext cx="4095750" cy="1476375"/>
            <a:chOff x="0" y="0"/>
            <a:chExt cx="5461000" cy="19685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461000" cy="1968500"/>
            </a:xfrm>
            <a:custGeom>
              <a:avLst/>
              <a:gdLst/>
              <a:ahLst/>
              <a:cxnLst/>
              <a:rect l="l" t="t" r="r" b="b"/>
              <a:pathLst>
                <a:path w="5461000" h="1968500">
                  <a:moveTo>
                    <a:pt x="0" y="0"/>
                  </a:moveTo>
                  <a:lnTo>
                    <a:pt x="5461000" y="0"/>
                  </a:lnTo>
                  <a:lnTo>
                    <a:pt x="5461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8ED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5461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9277350" y="6877050"/>
            <a:ext cx="36385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Lợi thế tích hợp Search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3144500" y="6477000"/>
            <a:ext cx="4095750" cy="1476375"/>
            <a:chOff x="0" y="0"/>
            <a:chExt cx="5461000" cy="19685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461000" cy="1968500"/>
            </a:xfrm>
            <a:custGeom>
              <a:avLst/>
              <a:gdLst/>
              <a:ahLst/>
              <a:cxnLst/>
              <a:rect l="l" t="t" r="r" b="b"/>
              <a:pathLst>
                <a:path w="5461000" h="1968500">
                  <a:moveTo>
                    <a:pt x="0" y="0"/>
                  </a:moveTo>
                  <a:lnTo>
                    <a:pt x="5461000" y="0"/>
                  </a:lnTo>
                  <a:lnTo>
                    <a:pt x="5461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E8ED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5461000" cy="200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3373100" y="6877050"/>
            <a:ext cx="3638550" cy="3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Phụ thuộc công cụ/kết nối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Đánh giá định tính theo phương pháp sử dụng; không quy đổi thành điểm. (OpenAI, 2026; Google, 2026; Anthropic, 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Lập trình &amp; dữ liệu: chọn theo 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381250"/>
            <a:ext cx="4953000" cy="5619750"/>
            <a:chOff x="0" y="0"/>
            <a:chExt cx="6604000" cy="7493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604000" cy="7493000"/>
              <a:chOff x="0" y="0"/>
              <a:chExt cx="6604000" cy="7493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604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49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2334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604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39D6C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44500" y="736600"/>
              <a:ext cx="5715000" cy="485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625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CHATGPT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4500" y="2057400"/>
              <a:ext cx="5715000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Sinh, giải thích và sửa mã đa ngôn ngữ. Phù hợp học tập, prototyping; giới hạn tệp phụ thuộc gói.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500" y="6178550"/>
              <a:ext cx="5715000" cy="314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32"/>
                </a:lnSpc>
              </a:pPr>
              <a:r>
                <a:rPr lang="en-US" sz="2400" b="1">
                  <a:solidFill>
                    <a:srgbClr val="39D6C8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Học code · debug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67500" y="2381250"/>
            <a:ext cx="4953000" cy="5619750"/>
            <a:chOff x="0" y="0"/>
            <a:chExt cx="6604000" cy="7493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604000" cy="7493000"/>
              <a:chOff x="0" y="0"/>
              <a:chExt cx="6604000" cy="7493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604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49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2334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604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F8A4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44500" y="736600"/>
              <a:ext cx="5715000" cy="485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625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GEMINI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4500" y="2057400"/>
              <a:ext cx="5715000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Thuận lợi khi làm việc với Google Cloud và dữ liệu đa phương tiện. Chất lượng tùy ngữ cảnh.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500" y="6178550"/>
              <a:ext cx="5715000" cy="314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32"/>
                </a:lnSpc>
              </a:pPr>
              <a:r>
                <a:rPr lang="en-US" sz="2400" b="1">
                  <a:solidFill>
                    <a:srgbClr val="FF8A4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Cloud · đa phương tiện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287250" y="2381250"/>
            <a:ext cx="4953000" cy="5619750"/>
            <a:chOff x="0" y="0"/>
            <a:chExt cx="6604000" cy="7493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6604000" cy="7493000"/>
              <a:chOff x="0" y="0"/>
              <a:chExt cx="6604000" cy="7493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604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49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2334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604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4B78D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44500" y="736600"/>
              <a:ext cx="5715000" cy="485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625" b="1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CLAUDE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4500" y="2057400"/>
              <a:ext cx="5715000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4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Đọc tài liệu/mã nguồn dài, diễn giải có cấu trúc. Cần kiểm thử với ngôn ngữ và thư viện chuyên biệt.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4500" y="6178550"/>
              <a:ext cx="5715000" cy="314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32"/>
                </a:lnSpc>
              </a:pPr>
              <a:r>
                <a:rPr lang="en-US" sz="2400" b="1">
                  <a:solidFill>
                    <a:srgbClr val="4B78D1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Kho mã lớn · phân tích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A8BBC2"/>
                </a:solidFill>
                <a:latin typeface="IBM Plex Sans"/>
                <a:ea typeface="IBM Plex Sans"/>
                <a:cs typeface="IBM Plex Sans"/>
                <a:sym typeface="IBM Plex Sans"/>
              </a:rPr>
              <a:t>Tổng hợp định tính: OpenAI (2026); Google (2026); Anthropic (2026). Luôn chạy test và review mã.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Ngữ cảnh lớn không thay thế quản trị dữ liệu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2500" y="2286000"/>
            <a:ext cx="4476750" cy="3333750"/>
            <a:chOff x="0" y="0"/>
            <a:chExt cx="5969000" cy="444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69000" cy="4445000"/>
            </a:xfrm>
            <a:custGeom>
              <a:avLst/>
              <a:gdLst/>
              <a:ahLst/>
              <a:cxnLst/>
              <a:rect l="l" t="t" r="r" b="b"/>
              <a:pathLst>
                <a:path w="5969000" h="4445000">
                  <a:moveTo>
                    <a:pt x="0" y="0"/>
                  </a:moveTo>
                  <a:lnTo>
                    <a:pt x="5969000" y="0"/>
                  </a:lnTo>
                  <a:lnTo>
                    <a:pt x="5969000" y="4445000"/>
                  </a:lnTo>
                  <a:lnTo>
                    <a:pt x="0" y="4445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969000" cy="448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05625" y="2286000"/>
            <a:ext cx="4476750" cy="3333750"/>
            <a:chOff x="0" y="0"/>
            <a:chExt cx="5969000" cy="444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69000" cy="4445000"/>
            </a:xfrm>
            <a:custGeom>
              <a:avLst/>
              <a:gdLst/>
              <a:ahLst/>
              <a:cxnLst/>
              <a:rect l="l" t="t" r="r" b="b"/>
              <a:pathLst>
                <a:path w="5969000" h="4445000">
                  <a:moveTo>
                    <a:pt x="0" y="0"/>
                  </a:moveTo>
                  <a:lnTo>
                    <a:pt x="5969000" y="0"/>
                  </a:lnTo>
                  <a:lnTo>
                    <a:pt x="5969000" y="4445000"/>
                  </a:lnTo>
                  <a:lnTo>
                    <a:pt x="0" y="4445000"/>
                  </a:lnTo>
                  <a:close/>
                </a:path>
              </a:pathLst>
            </a:custGeom>
            <a:solidFill>
              <a:srgbClr val="DFF7F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969000" cy="448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58750" y="2286000"/>
            <a:ext cx="4476750" cy="3333750"/>
            <a:chOff x="0" y="0"/>
            <a:chExt cx="5969000" cy="444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9000" cy="4445000"/>
            </a:xfrm>
            <a:custGeom>
              <a:avLst/>
              <a:gdLst/>
              <a:ahLst/>
              <a:cxnLst/>
              <a:rect l="l" t="t" r="r" b="b"/>
              <a:pathLst>
                <a:path w="5969000" h="4445000">
                  <a:moveTo>
                    <a:pt x="0" y="0"/>
                  </a:moveTo>
                  <a:lnTo>
                    <a:pt x="5969000" y="0"/>
                  </a:lnTo>
                  <a:lnTo>
                    <a:pt x="5969000" y="4445000"/>
                  </a:lnTo>
                  <a:lnTo>
                    <a:pt x="0" y="4445000"/>
                  </a:lnTo>
                  <a:close/>
                </a:path>
              </a:pathLst>
            </a:custGeom>
            <a:solidFill>
              <a:srgbClr val="4B78D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969000" cy="448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3000" y="2886075"/>
            <a:ext cx="4095750" cy="28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OPENAI / MICROSOFT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6125" y="2886075"/>
            <a:ext cx="4095750" cy="28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GOOGLE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49250" y="2886075"/>
            <a:ext cx="4095750" cy="28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ANTHROPIC / API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8750" y="4114800"/>
            <a:ext cx="3524250" cy="61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Ứng dụng, API, hệ sinh thái năng suất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81875" y="4114800"/>
            <a:ext cx="3524250" cy="61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Workspace · Android · Search · Cloud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35000" y="4114800"/>
            <a:ext cx="3524250" cy="61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4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API và tích hợp doanh nghiệp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000250" y="6572250"/>
            <a:ext cx="14287500" cy="1952625"/>
            <a:chOff x="0" y="0"/>
            <a:chExt cx="19050000" cy="2603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050000" cy="2603500"/>
            </a:xfrm>
            <a:custGeom>
              <a:avLst/>
              <a:gdLst/>
              <a:ahLst/>
              <a:cxnLst/>
              <a:rect l="l" t="t" r="r" b="b"/>
              <a:pathLst>
                <a:path w="19050000" h="2603500">
                  <a:moveTo>
                    <a:pt x="0" y="0"/>
                  </a:moveTo>
                  <a:lnTo>
                    <a:pt x="19050000" y="0"/>
                  </a:lnTo>
                  <a:lnTo>
                    <a:pt x="19050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9050000" cy="264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476500" y="7395924"/>
            <a:ext cx="4000500" cy="27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025" b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CẢNH BÁO BẢO MẬT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737" y="7163644"/>
            <a:ext cx="9439275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4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Không nhập bí mật, dữ liệu cá nhân, mã nguồn nhạy cảm nếu chưa rõ chính sách lưu trữ, huấn luyện và quyền quản trị của gói đang dùng.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Cửa sổ ngữ cảnh, chính sách dữ liệu và quyền kiểm soát thay đổi theo model/gói; đối chiếu tài liệu tại 18/10/2026.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Không có ‘tốt nhất’ — chỉ có phù hợp hơn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3600" y="2134030"/>
            <a:ext cx="447675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2500" b="1" dirty="0">
                <a:solidFill>
                  <a:srgbClr val="6B7D84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NHU CẦU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00875" y="2134030"/>
            <a:ext cx="390525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2"/>
              </a:lnSpc>
            </a:pPr>
            <a:r>
              <a:rPr lang="en-US" sz="2500" b="1" dirty="0">
                <a:solidFill>
                  <a:srgbClr val="6B7D84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GỢI Ý KHỞI ĐIỂM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77800" y="2134030"/>
            <a:ext cx="41910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2500" b="1">
                <a:solidFill>
                  <a:srgbClr val="6B7D84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LÝ DO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7750" y="2603183"/>
            <a:ext cx="16192500" cy="1238250"/>
            <a:chOff x="0" y="0"/>
            <a:chExt cx="21590000" cy="165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90000" cy="1651000"/>
            </a:xfrm>
            <a:custGeom>
              <a:avLst/>
              <a:gdLst/>
              <a:ahLst/>
              <a:cxnLst/>
              <a:rect l="l" t="t" r="r" b="b"/>
              <a:pathLst>
                <a:path w="21590000" h="1651000">
                  <a:moveTo>
                    <a:pt x="0" y="0"/>
                  </a:moveTo>
                  <a:lnTo>
                    <a:pt x="21590000" y="0"/>
                  </a:lnTo>
                  <a:lnTo>
                    <a:pt x="215900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E5EBE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590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10707" y="2774633"/>
            <a:ext cx="4381500" cy="895350"/>
            <a:chOff x="0" y="0"/>
            <a:chExt cx="5842000" cy="1193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42000" cy="1193800"/>
            </a:xfrm>
            <a:custGeom>
              <a:avLst/>
              <a:gdLst/>
              <a:ahLst/>
              <a:cxnLst/>
              <a:rect l="l" t="t" r="r" b="b"/>
              <a:pathLst>
                <a:path w="5842000" h="1193800">
                  <a:moveTo>
                    <a:pt x="0" y="0"/>
                  </a:moveTo>
                  <a:lnTo>
                    <a:pt x="5842000" y="0"/>
                  </a:lnTo>
                  <a:lnTo>
                    <a:pt x="5842000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842000" cy="1231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76375" y="3149934"/>
            <a:ext cx="4476750" cy="27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50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Học &amp; </a:t>
            </a:r>
            <a:r>
              <a:rPr lang="en-US" sz="250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viết</a:t>
            </a:r>
            <a:r>
              <a:rPr lang="en-US" sz="250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50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đa</a:t>
            </a:r>
            <a:r>
              <a:rPr lang="en-US" sz="250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50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dụng</a:t>
            </a:r>
            <a:endParaRPr lang="en-US" sz="2500" b="1" dirty="0">
              <a:solidFill>
                <a:srgbClr val="132B3A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191375" y="3064192"/>
            <a:ext cx="3905250" cy="28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1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ChatGPT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82500" y="3108930"/>
            <a:ext cx="4191000" cy="32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500" dirty="0">
                <a:latin typeface="IBM Plex Sans"/>
                <a:ea typeface="IBM Plex Sans"/>
                <a:cs typeface="IBM Plex Sans"/>
                <a:sym typeface="IBM Plex Sans"/>
              </a:rPr>
              <a:t>Workflow </a:t>
            </a:r>
            <a:r>
              <a:rPr lang="en-US" sz="2500" dirty="0" err="1">
                <a:latin typeface="IBM Plex Sans"/>
                <a:ea typeface="IBM Plex Sans"/>
                <a:cs typeface="IBM Plex Sans"/>
                <a:sym typeface="IBM Plex Sans"/>
              </a:rPr>
              <a:t>linh</a:t>
            </a:r>
            <a:r>
              <a:rPr lang="en-US" sz="2500" dirty="0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00" dirty="0" err="1">
                <a:latin typeface="IBM Plex Sans"/>
                <a:ea typeface="IBM Plex Sans"/>
                <a:cs typeface="IBM Plex Sans"/>
                <a:sym typeface="IBM Plex Sans"/>
              </a:rPr>
              <a:t>hoạt</a:t>
            </a:r>
            <a:endParaRPr lang="en-US" sz="250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047750" y="4777264"/>
            <a:ext cx="16192500" cy="1238250"/>
            <a:chOff x="0" y="0"/>
            <a:chExt cx="21590000" cy="1651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90000" cy="1651000"/>
            </a:xfrm>
            <a:custGeom>
              <a:avLst/>
              <a:gdLst/>
              <a:ahLst/>
              <a:cxnLst/>
              <a:rect l="l" t="t" r="r" b="b"/>
              <a:pathLst>
                <a:path w="21590000" h="1651000">
                  <a:moveTo>
                    <a:pt x="0" y="0"/>
                  </a:moveTo>
                  <a:lnTo>
                    <a:pt x="21590000" y="0"/>
                  </a:lnTo>
                  <a:lnTo>
                    <a:pt x="215900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90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00875" y="4948714"/>
            <a:ext cx="4381500" cy="895350"/>
            <a:chOff x="0" y="0"/>
            <a:chExt cx="5842000" cy="1193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42000" cy="1193800"/>
            </a:xfrm>
            <a:custGeom>
              <a:avLst/>
              <a:gdLst/>
              <a:ahLst/>
              <a:cxnLst/>
              <a:rect l="l" t="t" r="r" b="b"/>
              <a:pathLst>
                <a:path w="5842000" h="1193800">
                  <a:moveTo>
                    <a:pt x="0" y="0"/>
                  </a:moveTo>
                  <a:lnTo>
                    <a:pt x="5842000" y="0"/>
                  </a:lnTo>
                  <a:lnTo>
                    <a:pt x="5842000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842000" cy="1231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28750" y="5273516"/>
            <a:ext cx="4476750" cy="27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500" b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Google Workspace / Search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39000" y="5252561"/>
            <a:ext cx="3905250" cy="28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Gemini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84958" y="5252561"/>
            <a:ext cx="4191000" cy="32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50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Tích hợp hệ sinh thái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47750" y="6953250"/>
            <a:ext cx="16192500" cy="1238250"/>
            <a:chOff x="0" y="0"/>
            <a:chExt cx="21590000" cy="1651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590000" cy="1651000"/>
            </a:xfrm>
            <a:custGeom>
              <a:avLst/>
              <a:gdLst/>
              <a:ahLst/>
              <a:cxnLst/>
              <a:rect l="l" t="t" r="r" b="b"/>
              <a:pathLst>
                <a:path w="21590000" h="1651000">
                  <a:moveTo>
                    <a:pt x="0" y="0"/>
                  </a:moveTo>
                  <a:lnTo>
                    <a:pt x="21590000" y="0"/>
                  </a:lnTo>
                  <a:lnTo>
                    <a:pt x="215900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E5EBE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590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008249" y="7124700"/>
            <a:ext cx="4381500" cy="895350"/>
            <a:chOff x="0" y="0"/>
            <a:chExt cx="5842000" cy="1193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42000" cy="1193800"/>
            </a:xfrm>
            <a:custGeom>
              <a:avLst/>
              <a:gdLst/>
              <a:ahLst/>
              <a:cxnLst/>
              <a:rect l="l" t="t" r="r" b="b"/>
              <a:pathLst>
                <a:path w="5842000" h="1193800">
                  <a:moveTo>
                    <a:pt x="0" y="0"/>
                  </a:moveTo>
                  <a:lnTo>
                    <a:pt x="5842000" y="0"/>
                  </a:lnTo>
                  <a:lnTo>
                    <a:pt x="5842000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842000" cy="1231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76375" y="7449026"/>
            <a:ext cx="4476750" cy="27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50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Tài </a:t>
            </a:r>
            <a:r>
              <a:rPr lang="en-US" sz="250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liệu</a:t>
            </a:r>
            <a:r>
              <a:rPr lang="en-US" sz="250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50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hoặc</a:t>
            </a:r>
            <a:r>
              <a:rPr lang="en-US" sz="250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50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mã</a:t>
            </a:r>
            <a:r>
              <a:rPr lang="en-US" sz="250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50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nguồn</a:t>
            </a:r>
            <a:r>
              <a:rPr lang="en-US" sz="2500" b="1" dirty="0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2500" b="1" dirty="0" err="1">
                <a:solidFill>
                  <a:srgbClr val="132B3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dài</a:t>
            </a:r>
            <a:endParaRPr lang="en-US" sz="2500" b="1" dirty="0">
              <a:solidFill>
                <a:srgbClr val="132B3A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239000" y="7428840"/>
            <a:ext cx="3905250" cy="28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Claude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645206" y="7449026"/>
            <a:ext cx="4191000" cy="32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5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Xử</a:t>
            </a:r>
            <a:r>
              <a:rPr lang="en-US" sz="25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lý</a:t>
            </a:r>
            <a:r>
              <a:rPr lang="en-US" sz="25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ngữ</a:t>
            </a:r>
            <a:r>
              <a:rPr lang="en-US" sz="25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cảnh</a:t>
            </a:r>
            <a:r>
              <a:rPr lang="en-US" sz="2500" dirty="0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00" dirty="0" err="1">
                <a:solidFill>
                  <a:srgbClr val="132B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dài</a:t>
            </a:r>
            <a:endParaRPr lang="en-US" sz="2500" dirty="0">
              <a:solidFill>
                <a:srgbClr val="132B3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047750" y="9591675"/>
            <a:ext cx="16192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B7D84"/>
                </a:solidFill>
                <a:latin typeface="IBM Plex Sans"/>
                <a:ea typeface="IBM Plex Sans"/>
                <a:cs typeface="IBM Plex Sans"/>
                <a:sym typeface="IBM Plex Sans"/>
              </a:rPr>
              <a:t>Giá/gói miễn phí thay đổi theo quốc gia, thuế và thời điểm. Kiểm tra trang pricing chính thức tại ngày 18/10/2026.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4287500" cy="64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Tài liệu tham khảo chọn lọc — APA 7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857250" cy="66675"/>
            <a:chOff x="0" y="0"/>
            <a:chExt cx="1143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" cy="88900"/>
            </a:xfrm>
            <a:custGeom>
              <a:avLst/>
              <a:gdLst/>
              <a:ahLst/>
              <a:cxnLst/>
              <a:rect l="l" t="t" r="r" b="b"/>
              <a:pathLst>
                <a:path w="1143000" h="889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8A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43000" y="2209800"/>
            <a:ext cx="7524750" cy="85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Anthropic. (2023–2026). Claude: Product announcements &amp; documentation. https://www.anthropic.com/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3543300"/>
            <a:ext cx="7524750" cy="57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50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Google. (2024–2026). Gemini announcements, model cards, pricing &amp; privacy. https://ai.google/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4876800"/>
            <a:ext cx="7524750" cy="57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OpenAI. (2022). Introducing ChatGPT. https://openai.com/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6210300"/>
            <a:ext cx="7524750" cy="57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OpenAI. (2023). GPT‑4 technical report. arXiv. https://arxiv.org/abs/2303.08774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7543800"/>
            <a:ext cx="7524750" cy="57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OpenAI. (2024–2026). GPT‑4o, ChatGPT releases, pricing &amp; privacy. https://openai.com/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20250" y="2209800"/>
            <a:ext cx="7524750" cy="57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Vaswani, A., et al. (2017). Attention is all you need. NeurIPS, 30.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20250" y="3543300"/>
            <a:ext cx="7524750" cy="57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Verge. (2023). Independent coverage of GPT‑4 and ChatGPT.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20250" y="4876800"/>
            <a:ext cx="7524750" cy="57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TechCrunch. (2025). Independent coverage of Gemini releases.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20250" y="6210300"/>
            <a:ext cx="7524750" cy="57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Wired. (2024). Independent coverage of Claude and AI safety.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8353425"/>
            <a:ext cx="16002000" cy="24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1">
                <a:solidFill>
                  <a:srgbClr val="FF8A4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Ngày truy cập dự kiến: 18/10/2026. Trước khi nộp, thay mô tả báo chí bằng tiêu đề, tác giả, ngày và URL bài cụ thể; kiểm tra lại mọi thông tin tương lai.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1223</Words>
  <Application>Microsoft Office PowerPoint</Application>
  <PresentationFormat>Custom</PresentationFormat>
  <Paragraphs>154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Times New Roman</vt:lpstr>
      <vt:lpstr>Calibri</vt:lpstr>
      <vt:lpstr>Arial</vt:lpstr>
      <vt:lpstr>IBM Plex Sans</vt:lpstr>
      <vt:lpstr>Be Vietnam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sánh ChatGPT Gemini Claude</dc:title>
  <cp:lastModifiedBy>Admin</cp:lastModifiedBy>
  <cp:revision>3</cp:revision>
  <dcterms:created xsi:type="dcterms:W3CDTF">2006-08-16T00:00:00Z</dcterms:created>
  <dcterms:modified xsi:type="dcterms:W3CDTF">2026-10-18T15:08:16Z</dcterms:modified>
  <dc:identifier>DAHYWBCC8OU</dc:identifier>
</cp:coreProperties>
</file>